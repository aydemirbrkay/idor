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7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2D7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148840"/>
            <a:ext cx="110642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D7AE5"/>
                </a:solidFill>
                <a:latin typeface="Calibri"/>
              </a:rPr>
              <a:t>ODAK: IDOR — INSECURE DIRECT OBJECT REFERENCE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11064240" cy="8686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 i="0">
                <a:solidFill>
                  <a:srgbClr val="1B2240"/>
                </a:solidFill>
                <a:latin typeface="Calibri"/>
              </a:rPr>
              <a:t>IDOR Uygulama ve Analiz Raporu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11880"/>
            <a:ext cx="11064240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4A5570"/>
                </a:solidFill>
                <a:latin typeface="Calibri"/>
              </a:rPr>
              <a:t>Zafiyet Simülasyonu  ·  Sömürü Süreci  ·  Güvenli Kod Geliştirme</a:t>
            </a:r>
          </a:p>
        </p:txBody>
      </p:sp>
      <p:sp>
        <p:nvSpPr>
          <p:cNvPr id="8" name="Rectangle 7"/>
          <p:cNvSpPr/>
          <p:nvPr/>
        </p:nvSpPr>
        <p:spPr>
          <a:xfrm>
            <a:off x="5184648" y="4251960"/>
            <a:ext cx="1828800" cy="45720"/>
          </a:xfrm>
          <a:prstGeom prst="rect">
            <a:avLst/>
          </a:prstGeom>
          <a:solidFill>
            <a:srgbClr val="E7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480560"/>
            <a:ext cx="110642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7B8499"/>
                </a:solidFill>
                <a:latin typeface="Calibri"/>
              </a:rPr>
              <a:t>Erciyes Üniversitesi  ·  Mühendislik Fakültesi  ·  Bilgisayar Mühendisliği Bölümü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212080"/>
            <a:ext cx="11064240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1B2240"/>
                </a:solidFill>
                <a:latin typeface="Calibri"/>
              </a:rPr>
              <a:t>Berkay AYDEMİR  ·  Fatih SARIDUMAN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669280"/>
            <a:ext cx="1106424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7B8499"/>
                </a:solidFill>
                <a:latin typeface="Calibri"/>
              </a:rPr>
              <a:t>1030521387   ·   1030521205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7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2D7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457200"/>
            <a:ext cx="7772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7B8499"/>
                </a:solidFill>
                <a:latin typeface="Calibri"/>
              </a:rPr>
              <a:t>01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B2240"/>
                </a:solidFill>
                <a:latin typeface="Calibri"/>
              </a:rPr>
              <a:t>İçindekiler ve Özet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2194560" cy="54864"/>
          </a:xfrm>
          <a:prstGeom prst="rect">
            <a:avLst/>
          </a:prstGeom>
          <a:solidFill>
            <a:srgbClr val="E7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B8499"/>
                </a:solidFill>
                <a:latin typeface="Calibri"/>
              </a:rPr>
              <a:t>Sunum yol haritası ve çalışmanın özet bölümü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20240"/>
            <a:ext cx="5212080" cy="44348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011680"/>
            <a:ext cx="4846320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D7AE5"/>
                </a:solidFill>
                <a:latin typeface="Calibri"/>
              </a:rPr>
              <a:t>İÇİNDEKİLER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514600"/>
            <a:ext cx="502920" cy="329184"/>
          </a:xfrm>
          <a:prstGeom prst="roundRect">
            <a:avLst>
              <a:gd name="adj" fmla="val 10000"/>
            </a:avLst>
          </a:prstGeom>
          <a:solidFill>
            <a:srgbClr val="E7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514600"/>
            <a:ext cx="5029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514600"/>
            <a:ext cx="429768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B2240"/>
                </a:solidFill>
                <a:latin typeface="Calibri"/>
              </a:rPr>
              <a:t>İçindekiler &amp; Özet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889504"/>
            <a:ext cx="502920" cy="329184"/>
          </a:xfrm>
          <a:prstGeom prst="roundRect">
            <a:avLst>
              <a:gd name="adj" fmla="val 10000"/>
            </a:avLst>
          </a:prstGeom>
          <a:solidFill>
            <a:srgbClr val="E7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889504"/>
            <a:ext cx="5029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889504"/>
            <a:ext cx="429768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B2240"/>
                </a:solidFill>
                <a:latin typeface="Calibri"/>
              </a:rPr>
              <a:t>Giriş ve IDOR Teorik Altyapı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264408"/>
            <a:ext cx="502920" cy="329184"/>
          </a:xfrm>
          <a:prstGeom prst="roundRect">
            <a:avLst>
              <a:gd name="adj" fmla="val 10000"/>
            </a:avLst>
          </a:prstGeom>
          <a:solidFill>
            <a:srgbClr val="E7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264408"/>
            <a:ext cx="5029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264408"/>
            <a:ext cx="429768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B2240"/>
                </a:solidFill>
                <a:latin typeface="Calibri"/>
              </a:rPr>
              <a:t>Yatay vs Dikey Yetki Yükseltme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39312"/>
            <a:ext cx="502920" cy="329184"/>
          </a:xfrm>
          <a:prstGeom prst="roundRect">
            <a:avLst>
              <a:gd name="adj" fmla="val 10000"/>
            </a:avLst>
          </a:prstGeom>
          <a:solidFill>
            <a:srgbClr val="E7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639312"/>
            <a:ext cx="5029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639312"/>
            <a:ext cx="429768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B2240"/>
                </a:solidFill>
                <a:latin typeface="Calibri"/>
              </a:rPr>
              <a:t>Kullanılan Teknolojiler &amp; Lab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014216"/>
            <a:ext cx="502920" cy="329184"/>
          </a:xfrm>
          <a:prstGeom prst="roundRect">
            <a:avLst>
              <a:gd name="adj" fmla="val 10000"/>
            </a:avLst>
          </a:prstGeom>
          <a:solidFill>
            <a:srgbClr val="E7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014216"/>
            <a:ext cx="5029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014216"/>
            <a:ext cx="429768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B2240"/>
                </a:solidFill>
                <a:latin typeface="Calibri"/>
              </a:rPr>
              <a:t>Uygulama Mimarisi &amp; Senaryo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389120"/>
            <a:ext cx="502920" cy="329184"/>
          </a:xfrm>
          <a:prstGeom prst="roundRect">
            <a:avLst>
              <a:gd name="adj" fmla="val 10000"/>
            </a:avLst>
          </a:prstGeom>
          <a:solidFill>
            <a:srgbClr val="E7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389120"/>
            <a:ext cx="5029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389120"/>
            <a:ext cx="429768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B2240"/>
                </a:solidFill>
                <a:latin typeface="Calibri"/>
              </a:rPr>
              <a:t>Zafiyetin Tespiti (Discovery)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4764024"/>
            <a:ext cx="502920" cy="329184"/>
          </a:xfrm>
          <a:prstGeom prst="roundRect">
            <a:avLst>
              <a:gd name="adj" fmla="val 10000"/>
            </a:avLst>
          </a:prstGeom>
          <a:solidFill>
            <a:srgbClr val="E7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764024"/>
            <a:ext cx="5029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4764024"/>
            <a:ext cx="429768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B2240"/>
                </a:solidFill>
                <a:latin typeface="Calibri"/>
              </a:rPr>
              <a:t>Zafiyetin Sömürülmesi (Exploit)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138928"/>
            <a:ext cx="502920" cy="329184"/>
          </a:xfrm>
          <a:prstGeom prst="roundRect">
            <a:avLst>
              <a:gd name="adj" fmla="val 10000"/>
            </a:avLst>
          </a:prstGeom>
          <a:solidFill>
            <a:srgbClr val="E7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138928"/>
            <a:ext cx="5029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5138928"/>
            <a:ext cx="429768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B2240"/>
                </a:solidFill>
                <a:latin typeface="Calibri"/>
              </a:rPr>
              <a:t>Etki Analizi &amp; CVSS Skoru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5513832"/>
            <a:ext cx="502920" cy="329184"/>
          </a:xfrm>
          <a:prstGeom prst="roundRect">
            <a:avLst>
              <a:gd name="adj" fmla="val 10000"/>
            </a:avLst>
          </a:prstGeom>
          <a:solidFill>
            <a:srgbClr val="E7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5513832"/>
            <a:ext cx="5029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09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5513832"/>
            <a:ext cx="429768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B2240"/>
                </a:solidFill>
                <a:latin typeface="Calibri"/>
              </a:rPr>
              <a:t>Çözüm: Sahiplik Kontrolü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888736"/>
            <a:ext cx="502920" cy="329184"/>
          </a:xfrm>
          <a:prstGeom prst="roundRect">
            <a:avLst>
              <a:gd name="adj" fmla="val 10000"/>
            </a:avLst>
          </a:prstGeom>
          <a:solidFill>
            <a:srgbClr val="E7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888736"/>
            <a:ext cx="5029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5888736"/>
            <a:ext cx="429768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B2240"/>
                </a:solidFill>
                <a:latin typeface="Calibri"/>
              </a:rPr>
              <a:t>Sonuç &amp; SSDLC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1920240"/>
            <a:ext cx="539496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D7AE5"/>
                </a:solidFill>
                <a:latin typeface="Calibri"/>
              </a:rPr>
              <a:t>ÖZET (ABSTRACT)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2423160"/>
            <a:ext cx="5394960" cy="1920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4A5570"/>
                </a:solidFill>
                <a:latin typeface="Calibri"/>
              </a:rPr>
              <a:t>Bu çalışmada OWASP API1:2023 listesinin birinci sırasındaki Broken Object Level Authorization (BOLA / IDOR) zafiyeti, Python Flask ile geliştirilen çift modlu bir dijital fatura yönetim sistemi simülasyonu üzerinden uçtan uca incelenmiştir.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00800" y="4160520"/>
            <a:ext cx="539496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73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37960" y="4160520"/>
            <a:ext cx="5212080" cy="5029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E73C7E"/>
                </a:solidFill>
                <a:latin typeface="Calibri"/>
              </a:rPr>
              <a:t>VULNERABLE Mod  →  /api/invoice/&lt;id&gt; sahiplik kontrolü YOK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00800" y="4754880"/>
            <a:ext cx="539496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EB9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37960" y="4754880"/>
            <a:ext cx="5212080" cy="5029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EB976"/>
                </a:solidFill>
                <a:latin typeface="Calibri"/>
              </a:rPr>
              <a:t>SECURE Mod  →  check_object_ownership ile sahiplik doğrulanır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5394960"/>
            <a:ext cx="53949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D7AE5"/>
                </a:solidFill>
                <a:latin typeface="Calibri"/>
              </a:rPr>
              <a:t>Anahtar Kelimeler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5715000"/>
            <a:ext cx="5394960" cy="6400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7B8499"/>
                </a:solidFill>
                <a:latin typeface="Calibri"/>
              </a:rPr>
              <a:t>IDOR · BOLA · OWASP API Top 10 · Broken Access Control · Flask · Burp Suite · Yetkilendirme · SSDLC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7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2D7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457200"/>
            <a:ext cx="7772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7B8499"/>
                </a:solidFill>
                <a:latin typeface="Calibri"/>
              </a:rPr>
              <a:t>02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B2240"/>
                </a:solidFill>
                <a:latin typeface="Calibri"/>
              </a:rPr>
              <a:t>Giriş ve IDOR Zafiyeti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2194560" cy="54864"/>
          </a:xfrm>
          <a:prstGeom prst="rect">
            <a:avLst/>
          </a:prstGeom>
          <a:solidFill>
            <a:srgbClr val="E7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B8499"/>
                </a:solidFill>
                <a:latin typeface="Calibri"/>
              </a:rPr>
              <a:t>OWASP A01:2021 Broken Access Control  ·  API1:2023 BOLA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920240"/>
            <a:ext cx="5212080" cy="411480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1_idor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103120"/>
            <a:ext cx="4937760" cy="2651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29400" y="4846320"/>
            <a:ext cx="4754880" cy="1143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1">
                <a:solidFill>
                  <a:srgbClr val="7B8499"/>
                </a:solidFill>
                <a:latin typeface="Calibri"/>
              </a:rPr>
              <a:t>Aynı oturum çerezi ile gönderilen iki istek — ilki saldırganın kendi 1001 numaralı faturasına meşru erişim, ikincisi Mehmet'in 2001 numaralı faturasına yetkisiz erişim. Sahiplik kontrolü yoksa ikisi de 200 OK döner.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920240"/>
            <a:ext cx="5669280" cy="4389120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Tanım: </a:t>
            </a:r>
            <a:r>
              <a:rPr sz="1400">
                <a:solidFill>
                  <a:srgbClr val="4A5570"/>
                </a:solidFill>
                <a:latin typeface="Calibri"/>
              </a:rPr>
              <a:t>İstemcinin gönderdiği kaynak referansının (URL, query, JSON, çerez) sunucu tarafında sahiplik doğrulamasından geçmemesi sonucu oluşan yetkilendirme zafiyetidir.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Authentication ≠ Authorization: </a:t>
            </a:r>
            <a:r>
              <a:rPr sz="1400">
                <a:solidFill>
                  <a:srgbClr val="4A5570"/>
                </a:solidFill>
                <a:latin typeface="Calibri"/>
              </a:rPr>
              <a:t>Sunucu 'kim?' sorusunu yanıtlasa da 'neye?' sorusunu sormaz.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Saldırı vektörü: </a:t>
            </a:r>
            <a:r>
              <a:rPr sz="1400">
                <a:solidFill>
                  <a:srgbClr val="4A5570"/>
                </a:solidFill>
                <a:latin typeface="Calibri"/>
              </a:rPr>
              <a:t>Saldırgan, kendi geçerli oturumuyla URL'deki sayısal ID'yi değiştirerek başkasının verisine erişir.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Security through obscurity: </a:t>
            </a:r>
            <a:r>
              <a:rPr sz="1400">
                <a:solidFill>
                  <a:srgbClr val="4A5570"/>
                </a:solidFill>
                <a:latin typeface="Calibri"/>
              </a:rPr>
              <a:t>ID'leri tahmin etmek zor sanmak modern güvenlikte reddedilen yanılgıdır.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OWASP konumu: </a:t>
            </a:r>
            <a:r>
              <a:rPr sz="1400">
                <a:solidFill>
                  <a:srgbClr val="4A5570"/>
                </a:solidFill>
                <a:latin typeface="Calibri"/>
              </a:rPr>
              <a:t>A01:2021 Broken Access Control alt kümesi; API1:2023 BOLA olarak da bilinir.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7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2D7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457200"/>
            <a:ext cx="7772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7B8499"/>
                </a:solidFill>
                <a:latin typeface="Calibri"/>
              </a:rPr>
              <a:t>03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B2240"/>
                </a:solidFill>
                <a:latin typeface="Calibri"/>
              </a:rPr>
              <a:t>Yatay ve Dikey Yetki Yükseltme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2194560" cy="54864"/>
          </a:xfrm>
          <a:prstGeom prst="rect">
            <a:avLst/>
          </a:prstGeom>
          <a:solidFill>
            <a:srgbClr val="E7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B8499"/>
                </a:solidFill>
                <a:latin typeface="Calibri"/>
              </a:rPr>
              <a:t>Erişim kontrolü ihlallerinin iki temel ekseni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920240"/>
            <a:ext cx="5212080" cy="411480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2_h_v_esca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103120"/>
            <a:ext cx="4937760" cy="2651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29400" y="4846320"/>
            <a:ext cx="4754880" cy="1143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1">
                <a:solidFill>
                  <a:srgbClr val="7B8499"/>
                </a:solidFill>
                <a:latin typeface="Calibri"/>
              </a:rPr>
              <a:t>Saldırgan Ahmet, aynı seviyedeki Mehmet'in verisine yatay yönde sızar (pembe ok); admin rolüne doğru dikey yükseliş ise sarı ok ile temsil edilir. Her eksenin ayrı dekoratör savunması vardır.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920240"/>
            <a:ext cx="5669280" cy="4389120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YATAY (BOLA / IDOR): </a:t>
            </a:r>
            <a:r>
              <a:rPr sz="1400">
                <a:solidFill>
                  <a:srgbClr val="4A5570"/>
                </a:solidFill>
                <a:latin typeface="Calibri"/>
              </a:rPr>
              <a:t>Saldırgan, aynı rol seviyesindeki başka bir kullanıcının verisine erişir — ahmet → mehmet/2001.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DİKEY (BFLA): </a:t>
            </a:r>
            <a:r>
              <a:rPr sz="1400">
                <a:solidFill>
                  <a:srgbClr val="4A5570"/>
                </a:solidFill>
                <a:latin typeface="Calibri"/>
              </a:rPr>
              <a:t>Saldırgan, üst rol seviyesindeki bir fonksiyona erişmeye çalışır — user → /admin/toggle-mode.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Nesne kontrolü: </a:t>
            </a:r>
            <a:r>
              <a:rPr sz="1400">
                <a:solidFill>
                  <a:srgbClr val="4A5570"/>
                </a:solidFill>
                <a:latin typeface="Calibri"/>
              </a:rPr>
              <a:t>owner_id == session.user_id eşitliği yatay sızıntıyı tamamen kapatır.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Fonksiyon kontrolü: </a:t>
            </a:r>
            <a:r>
              <a:rPr sz="1400">
                <a:solidFill>
                  <a:srgbClr val="4A5570"/>
                </a:solidFill>
                <a:latin typeface="Calibri"/>
              </a:rPr>
              <a:t>@admin_required dekoratörü dikey yükselmeyi kapatır.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İlke: </a:t>
            </a:r>
            <a:r>
              <a:rPr sz="1400">
                <a:solidFill>
                  <a:srgbClr val="4A5570"/>
                </a:solidFill>
                <a:latin typeface="Calibri"/>
              </a:rPr>
              <a:t>Olgun bir uygulama her iki kontrolü birbirinden bağımsız katmanlar olarak işletmelidir.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7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2D7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457200"/>
            <a:ext cx="7772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7B8499"/>
                </a:solidFill>
                <a:latin typeface="Calibri"/>
              </a:rPr>
              <a:t>04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B2240"/>
                </a:solidFill>
                <a:latin typeface="Calibri"/>
              </a:rPr>
              <a:t>Kullanılan Teknolojiler ve Laboratuvar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2194560" cy="54864"/>
          </a:xfrm>
          <a:prstGeom prst="rect">
            <a:avLst/>
          </a:prstGeom>
          <a:solidFill>
            <a:srgbClr val="E7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B8499"/>
                </a:solidFill>
                <a:latin typeface="Calibri"/>
              </a:rPr>
              <a:t>Backend, güvenlik katmanı, saldırı araçları ve DevOps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920240"/>
            <a:ext cx="5212080" cy="411480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3_tech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103120"/>
            <a:ext cx="4937760" cy="2651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29400" y="4846320"/>
            <a:ext cx="4754880" cy="1143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1">
                <a:solidFill>
                  <a:srgbClr val="7B8499"/>
                </a:solidFill>
                <a:latin typeface="Calibri"/>
              </a:rPr>
              <a:t>Teknoloji bileşenleri rollerine göre dört kategoride renklendirilmiştir: Backend/API (mavi), Güvenlik (yeşil), Saldırı (pembe), DevOps/Kalite (sarı).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920240"/>
            <a:ext cx="5669280" cy="4389120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Backend: </a:t>
            </a:r>
            <a:r>
              <a:rPr sz="1400">
                <a:solidFill>
                  <a:srgbClr val="4A5570"/>
                </a:solidFill>
                <a:latin typeface="Calibri"/>
              </a:rPr>
              <a:t>Python 3.10+, Flask 3.0 REST API, Jinja2 şablon motoru.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Güvenlik katmanı: </a:t>
            </a:r>
            <a:r>
              <a:rPr sz="1400">
                <a:solidFill>
                  <a:srgbClr val="4A5570"/>
                </a:solidFill>
                <a:latin typeface="Calibri"/>
              </a:rPr>
              <a:t>Werkzeug PBKDF2 ile parola özetleme, imzalı oturum çerezi, RateLimiter ile brute-force engeli.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Saldırı / Test: </a:t>
            </a:r>
            <a:r>
              <a:rPr sz="1400">
                <a:solidFill>
                  <a:srgbClr val="4A5570"/>
                </a:solidFill>
                <a:latin typeface="Calibri"/>
              </a:rPr>
              <a:t>Burp Suite Community Edition (Proxy + Repeater + Intruder), Python requests tabanlı exploit_demo.py betiği.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Test çerçevesi: </a:t>
            </a:r>
            <a:r>
              <a:rPr sz="1400">
                <a:solidFill>
                  <a:srgbClr val="4A5570"/>
                </a:solidFill>
                <a:latin typeface="Calibri"/>
              </a:rPr>
              <a:t>31 adet unittest ile VULNERABLE ve SECURE modlar CI'da otomatik doğrulanır.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İzolasyon: </a:t>
            </a:r>
            <a:r>
              <a:rPr sz="1400">
                <a:solidFill>
                  <a:srgbClr val="4A5570"/>
                </a:solidFill>
                <a:latin typeface="Calibri"/>
              </a:rPr>
              <a:t>Tüm testler localhost:5000 üzerinde, opsiyonel Docker konteynerinde çalışır.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Etik uyum: </a:t>
            </a:r>
            <a:r>
              <a:rPr sz="1400">
                <a:solidFill>
                  <a:srgbClr val="4A5570"/>
                </a:solidFill>
                <a:latin typeface="Calibri"/>
              </a:rPr>
              <a:t>Test kullanıcıları yapaydır; KVKK ve etik araştırma ilkelerine uyumludur.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7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2D7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457200"/>
            <a:ext cx="7772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7B8499"/>
                </a:solidFill>
                <a:latin typeface="Calibri"/>
              </a:rPr>
              <a:t>05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B2240"/>
                </a:solidFill>
                <a:latin typeface="Calibri"/>
              </a:rPr>
              <a:t>Uygulama Mimarisi ve Senaryo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2194560" cy="54864"/>
          </a:xfrm>
          <a:prstGeom prst="rect">
            <a:avLst/>
          </a:prstGeom>
          <a:solidFill>
            <a:srgbClr val="E7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B8499"/>
                </a:solidFill>
                <a:latin typeface="Calibri"/>
              </a:rPr>
              <a:t>Dijital fatura yönetim sistemi simülasyonu — Saldırı kurgusu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920240"/>
            <a:ext cx="5212080" cy="411480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4_arch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103120"/>
            <a:ext cx="4937760" cy="2651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29400" y="4846320"/>
            <a:ext cx="4754880" cy="1143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1">
                <a:solidFill>
                  <a:srgbClr val="7B8499"/>
                </a:solidFill>
                <a:latin typeface="Calibri"/>
              </a:rPr>
              <a:t>Saldırı zinciri: Tarayıcı → Burp Proxy (127.0.0.1:8080) → Flask (localhost:5000) → INVOICES sözlüğü. Beş adımlık akış sol panelde numaralı dairelerle gösterilmiştir.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920240"/>
            <a:ext cx="5669280" cy="4389120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Aktörler: </a:t>
            </a:r>
            <a:r>
              <a:rPr sz="1400">
                <a:solidFill>
                  <a:srgbClr val="4A5570"/>
                </a:solidFill>
                <a:latin typeface="Calibri"/>
              </a:rPr>
              <a:t>ahmet (saldırgan, user_id=1), mehmet (kurban, user_id=2), admin (yönetici).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Veri: </a:t>
            </a:r>
            <a:r>
              <a:rPr sz="1400">
                <a:solidFill>
                  <a:srgbClr val="4A5570"/>
                </a:solidFill>
                <a:latin typeface="Calibri"/>
              </a:rPr>
              <a:t>INVOICES sözlüğünde ardışık ID'ler (1001, 1002, 2001, 2002) IDOR için ideal hedef oluşturur.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Adım 1: </a:t>
            </a:r>
            <a:r>
              <a:rPr sz="1400">
                <a:solidFill>
                  <a:srgbClr val="4A5570"/>
                </a:solidFill>
                <a:latin typeface="Calibri"/>
              </a:rPr>
              <a:t>POST /login (ahmet / ahmet123) → 200 OK ve oturum çerezi atanır.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Adım 2: </a:t>
            </a:r>
            <a:r>
              <a:rPr sz="1400">
                <a:solidFill>
                  <a:srgbClr val="4A5570"/>
                </a:solidFill>
                <a:latin typeface="Calibri"/>
              </a:rPr>
              <a:t>GET /api/invoice/1001 → kendi ₺2.500 faturası döner (meşru).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Adım 3-4: </a:t>
            </a:r>
            <a:r>
              <a:rPr sz="1400">
                <a:solidFill>
                  <a:srgbClr val="4A5570"/>
                </a:solidFill>
                <a:latin typeface="Calibri"/>
              </a:rPr>
              <a:t>Burp Repeater'da URL 1001 → 2001 manipülasyonu; Mehmet'in ₺9.750 faturası 200 OK ile gelir.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Adım 5: </a:t>
            </a:r>
            <a:r>
              <a:rPr sz="1400">
                <a:solidFill>
                  <a:srgbClr val="4A5570"/>
                </a:solidFill>
                <a:latin typeface="Calibri"/>
              </a:rPr>
              <a:t>exploit_demo.py 1000–3000 aralığını tarayarak tüm faturaları döker — toplu sızıntı.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7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2D7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457200"/>
            <a:ext cx="7772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7B8499"/>
                </a:solidFill>
                <a:latin typeface="Calibri"/>
              </a:rPr>
              <a:t>06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B2240"/>
                </a:solidFill>
                <a:latin typeface="Calibri"/>
              </a:rPr>
              <a:t>Zafiyetin Tespiti (Discovery)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2194560" cy="54864"/>
          </a:xfrm>
          <a:prstGeom prst="rect">
            <a:avLst/>
          </a:prstGeom>
          <a:solidFill>
            <a:srgbClr val="E7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B8499"/>
                </a:solidFill>
                <a:latin typeface="Calibri"/>
              </a:rPr>
              <a:t>Pasif keşif (DevTools) + Aktif keşif (Burp Suite Proxy)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920240"/>
            <a:ext cx="5212080" cy="411480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5_burp_dis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103120"/>
            <a:ext cx="4937760" cy="2651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29400" y="4846320"/>
            <a:ext cx="4754880" cy="1143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1">
                <a:solidFill>
                  <a:srgbClr val="7B8499"/>
                </a:solidFill>
                <a:latin typeface="Calibri"/>
              </a:rPr>
              <a:t>Solda Chromium DevTools Network sekmesinde invoice/1001 isteği sarı vurguludur; sağda Burp Suite Proxy'de yakalanan ham HTTP isteğinin bulguları listelenmiştir.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920240"/>
            <a:ext cx="5669280" cy="4389120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Pasif keşif: </a:t>
            </a:r>
            <a:r>
              <a:rPr sz="1400">
                <a:solidFill>
                  <a:srgbClr val="4A5570"/>
                </a:solidFill>
                <a:latin typeface="Calibri"/>
              </a:rPr>
              <a:t>F12 → Network sekmesinde uygulamanın HTTP trafiği meşru kullanıcı gibi gözlemlenir.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Sinyal 1: </a:t>
            </a:r>
            <a:r>
              <a:rPr sz="1400">
                <a:solidFill>
                  <a:srgbClr val="4A5570"/>
                </a:solidFill>
                <a:latin typeface="Calibri"/>
              </a:rPr>
              <a:t>URL'de açık sayısal kaynak referansı — istemci tarafından üretilebilir bir tanımlayıcı.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Sinyal 2: </a:t>
            </a:r>
            <a:r>
              <a:rPr sz="1400">
                <a:solidFill>
                  <a:srgbClr val="4A5570"/>
                </a:solidFill>
                <a:latin typeface="Calibri"/>
              </a:rPr>
              <a:t>Yetki yalnızca session çerezine indirgenmiş; nesne kontrolü beklenmiyor.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Sinyal 3: </a:t>
            </a:r>
            <a:r>
              <a:rPr sz="1400">
                <a:solidFill>
                  <a:srgbClr val="4A5570"/>
                </a:solidFill>
                <a:latin typeface="Calibri"/>
              </a:rPr>
              <a:t>İstekte Authorization başlığı yok; sahiplik kontrolü için bağlam mevcut değil.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Aktif keşif: </a:t>
            </a:r>
            <a:r>
              <a:rPr sz="1400">
                <a:solidFill>
                  <a:srgbClr val="4A5570"/>
                </a:solidFill>
                <a:latin typeface="Calibri"/>
              </a:rPr>
              <a:t>FoxyProxy ile trafik 127.0.0.1:8080 üzerinden Burp Suite Proxy'ye yönlendirilir.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Hipotez: </a:t>
            </a:r>
            <a:r>
              <a:rPr sz="1400">
                <a:solidFill>
                  <a:srgbClr val="4A5570"/>
                </a:solidFill>
                <a:latin typeface="Calibri"/>
              </a:rPr>
              <a:t>ID değişimi başka kullanıcının verisini açar — Repeater ile DOĞRULA.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7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2D7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457200"/>
            <a:ext cx="7772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7B8499"/>
                </a:solidFill>
                <a:latin typeface="Calibri"/>
              </a:rPr>
              <a:t>07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B2240"/>
                </a:solidFill>
                <a:latin typeface="Calibri"/>
              </a:rPr>
              <a:t>Zafiyetin Sömürülmesi (Exploit)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2194560" cy="54864"/>
          </a:xfrm>
          <a:prstGeom prst="rect">
            <a:avLst/>
          </a:prstGeom>
          <a:solidFill>
            <a:srgbClr val="E7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B8499"/>
                </a:solidFill>
                <a:latin typeface="Calibri"/>
              </a:rPr>
              <a:t>Burp Suite Repeater ile manuel ve Intruder ile otomatik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920240"/>
            <a:ext cx="5212080" cy="411480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6_burp_explo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103120"/>
            <a:ext cx="4937760" cy="2651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29400" y="4846320"/>
            <a:ext cx="4754880" cy="1143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1">
                <a:solidFill>
                  <a:srgbClr val="7B8499"/>
                </a:solidFill>
                <a:latin typeface="Calibri"/>
              </a:rPr>
              <a:t>Burp Repeater — solda manipüle edilmiş GET /api/invoice/2001 isteği (pembe kutu içinde 2001); sağda 200 OK ile dönen JSON cevap. 'owner': 'Mehmet Kaya' ve ₺9.750 tutar açıkça görülmektedir.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920240"/>
            <a:ext cx="5669280" cy="4389120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Aktarım: </a:t>
            </a:r>
            <a:r>
              <a:rPr sz="1400">
                <a:solidFill>
                  <a:srgbClr val="4A5570"/>
                </a:solidFill>
                <a:latin typeface="Calibri"/>
              </a:rPr>
              <a:t>Yakalanan istek Ctrl+R ile Repeater'a aktarılır.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Manuel sömürü: </a:t>
            </a:r>
            <a:r>
              <a:rPr sz="1400">
                <a:solidFill>
                  <a:srgbClr val="4A5570"/>
                </a:solidFill>
                <a:latin typeface="Calibri"/>
              </a:rPr>
              <a:t>URL'deki 1001 → 2001 değiştirilir, Send ile gönderilir — 200 OK ve Mehmet'in ₺9.750 faturası iade edilir.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Otomatik sömürü: </a:t>
            </a:r>
            <a:r>
              <a:rPr sz="1400">
                <a:solidFill>
                  <a:srgbClr val="4A5570"/>
                </a:solidFill>
                <a:latin typeface="Calibri"/>
              </a:rPr>
              <a:t>Intruder + Numbers payload (1000–3000) ile tüm meşru ID'ler tek tabloda dökülür (mass enumeration).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exploit_demo.py: </a:t>
            </a:r>
            <a:r>
              <a:rPr sz="1400">
                <a:solidFill>
                  <a:srgbClr val="4A5570"/>
                </a:solidFill>
                <a:latin typeface="Calibri"/>
              </a:rPr>
              <a:t>requests.Session ile saniyeler içinde veritabanının tamamı dışa çıkarılır.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Yan kanal yokluğu: </a:t>
            </a:r>
            <a:r>
              <a:rPr sz="1400">
                <a:solidFill>
                  <a:srgbClr val="4A5570"/>
                </a:solidFill>
                <a:latin typeface="Calibri"/>
              </a:rPr>
              <a:t>Saldırı meşru cevaplarla aynı şekle sahiptir — istemciye uyarı yansımaz.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Loglama: </a:t>
            </a:r>
            <a:r>
              <a:rPr sz="1400">
                <a:solidFill>
                  <a:srgbClr val="4A5570"/>
                </a:solidFill>
                <a:latin typeface="Calibri"/>
              </a:rPr>
              <a:t>VULN modda STATS['successful_exploits'] sessizce artar; olay adli analiz olmadan fark edilmez.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7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2D7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457200"/>
            <a:ext cx="7772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7B8499"/>
                </a:solidFill>
                <a:latin typeface="Calibri"/>
              </a:rPr>
              <a:t>08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B2240"/>
                </a:solidFill>
                <a:latin typeface="Calibri"/>
              </a:rPr>
              <a:t>Etki Analizi ve Risk Değerlendirmesi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2194560" cy="54864"/>
          </a:xfrm>
          <a:prstGeom prst="rect">
            <a:avLst/>
          </a:prstGeom>
          <a:solidFill>
            <a:srgbClr val="E7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B8499"/>
                </a:solidFill>
                <a:latin typeface="Calibri"/>
              </a:rPr>
              <a:t>Veri sınıfı  ·  KVKK &amp; GDPR  ·  CVSS v3.1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920240"/>
            <a:ext cx="5212080" cy="411480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7_cv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103120"/>
            <a:ext cx="4937760" cy="2651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29400" y="4846320"/>
            <a:ext cx="4754880" cy="1143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1">
                <a:solidFill>
                  <a:srgbClr val="7B8499"/>
                </a:solidFill>
                <a:latin typeface="Calibri"/>
              </a:rPr>
              <a:t>Yarım daire CVSS göstergesi: ibre 7.7 (Yüksek) bölgesini işaret eder. Sağda CVSS v3.1 vektörü ve yedi alt metriğin değeri listelenmiştir.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920240"/>
            <a:ext cx="5669280" cy="4389120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Veri sınıfı: </a:t>
            </a:r>
            <a:r>
              <a:rPr sz="1400">
                <a:solidFill>
                  <a:srgbClr val="4A5570"/>
                </a:solidFill>
                <a:latin typeface="Calibri"/>
              </a:rPr>
              <a:t>Ad-soyad, hizmet türü, tutar, tarih, ödeme durumu — finansal/kişisel veri kategorisi.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Yasal etki (KVKK): </a:t>
            </a:r>
            <a:r>
              <a:rPr sz="1400">
                <a:solidFill>
                  <a:srgbClr val="4A5570"/>
                </a:solidFill>
                <a:latin typeface="Calibri"/>
              </a:rPr>
              <a:t>Madde 12 &amp; 18 ihlali; milyon TL mertebesinde idari para cezası riski.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AB müşterileri (GDPR): </a:t>
            </a:r>
            <a:r>
              <a:rPr sz="1400">
                <a:solidFill>
                  <a:srgbClr val="4A5570"/>
                </a:solidFill>
                <a:latin typeface="Calibri"/>
              </a:rPr>
              <a:t>Madde 32-33; küresel cironun %4'üne varan yaptırım.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Operasyonel etki: </a:t>
            </a:r>
            <a:r>
              <a:rPr sz="1400">
                <a:solidFill>
                  <a:srgbClr val="4A5570"/>
                </a:solidFill>
                <a:latin typeface="Calibri"/>
              </a:rPr>
              <a:t>Müşteri güveni kaybı, hukuki süreçler, tedarikçi sözleşmesi feshi.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CVSS skoru: </a:t>
            </a:r>
            <a:r>
              <a:rPr sz="1400">
                <a:solidFill>
                  <a:srgbClr val="4A5570"/>
                </a:solidFill>
                <a:latin typeface="Calibri"/>
              </a:rPr>
              <a:t>Temel 6.5 (Orta); CR:H çevresel ağırlığıyla 7.7 — YÜKSEK seviyeye çıkar.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Sektör fiyatı: </a:t>
            </a:r>
            <a:r>
              <a:rPr sz="1400">
                <a:solidFill>
                  <a:srgbClr val="4A5570"/>
                </a:solidFill>
                <a:latin typeface="Calibri"/>
              </a:rPr>
              <a:t>Bug Bounty programlarında ortalama 3.000 – 10.000 USD arası ödül.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7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2D7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457200"/>
            <a:ext cx="7772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7B8499"/>
                </a:solidFill>
                <a:latin typeface="Calibri"/>
              </a:rPr>
              <a:t>09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B2240"/>
                </a:solidFill>
                <a:latin typeface="Calibri"/>
              </a:rPr>
              <a:t>Çözüm ve Güvenlik Önerileri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2194560" cy="54864"/>
          </a:xfrm>
          <a:prstGeom prst="rect">
            <a:avLst/>
          </a:prstGeom>
          <a:solidFill>
            <a:srgbClr val="E7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B8499"/>
                </a:solidFill>
                <a:latin typeface="Calibri"/>
              </a:rPr>
              <a:t>Nesne seviyesi sahiplik kontrolü + savunma derinliği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920240"/>
            <a:ext cx="5212080" cy="411480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8_secure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103120"/>
            <a:ext cx="4937760" cy="2651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29400" y="4846320"/>
            <a:ext cx="4754880" cy="1143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1">
                <a:solidFill>
                  <a:srgbClr val="7B8499"/>
                </a:solidFill>
                <a:latin typeface="Calibri"/>
              </a:rPr>
              <a:t>Solda zafiyetli kod (yalnızca @login_required, sahiplik kontrolü yok); sağda güvenli kod — sahiplik doğrulanır, yetkisiz girişim loglanır, 404 ile bilgi sızıntısı engellenir.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920240"/>
            <a:ext cx="5669280" cy="4389120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Tek geçerli çözüm: </a:t>
            </a:r>
            <a:r>
              <a:rPr sz="1400">
                <a:solidFill>
                  <a:srgbClr val="4A5570"/>
                </a:solidFill>
                <a:latin typeface="Calibri"/>
              </a:rPr>
              <a:t>check_object_ownership(invoice, uid) ile owner_id == session.user_id eşitliği her erişimde doğrulanır.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Merkezîleştirme: </a:t>
            </a:r>
            <a:r>
              <a:rPr sz="1400">
                <a:solidFill>
                  <a:srgbClr val="4A5570"/>
                </a:solidFill>
                <a:latin typeface="Calibri"/>
              </a:rPr>
              <a:t>Sahiplik mantığı tek noktada tanımlanır; bir hata düzeltildiğinde tüm endpoint'ler aynı anda korunur.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Loglama: </a:t>
            </a:r>
            <a:r>
              <a:rPr sz="1400">
                <a:solidFill>
                  <a:srgbClr val="4A5570"/>
                </a:solidFill>
                <a:latin typeface="Calibri"/>
              </a:rPr>
              <a:t>log_unauthorized_access → SIEM (Splunk/ELK) için zaman damgalı, yapısal kayıt.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Enumeration engeli: </a:t>
            </a:r>
            <a:r>
              <a:rPr sz="1400">
                <a:solidFill>
                  <a:srgbClr val="4A5570"/>
                </a:solidFill>
                <a:latin typeface="Calibri"/>
              </a:rPr>
              <a:t>Yetkisiz erişimde 403 yerine 404 dönülür — ID varlığı sızdırılmaz.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Savunma derinliği: </a:t>
            </a:r>
            <a:r>
              <a:rPr sz="1400">
                <a:solidFill>
                  <a:srgbClr val="4A5570"/>
                </a:solidFill>
                <a:latin typeface="Calibri"/>
              </a:rPr>
              <a:t>UUID, rate-limit, PBKDF2, HttpOnly + SameSite, CSP, X-Frame-Options.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BFLA koruması: </a:t>
            </a:r>
            <a:r>
              <a:rPr sz="1400">
                <a:solidFill>
                  <a:srgbClr val="4A5570"/>
                </a:solidFill>
                <a:latin typeface="Calibri"/>
              </a:rPr>
              <a:t>Durum değiştiren /admin/... uçları @admin_required ile ayrıca kapatılır.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7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2D7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457200"/>
            <a:ext cx="7772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7B8499"/>
                </a:solidFill>
                <a:latin typeface="Calibr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B2240"/>
                </a:solidFill>
                <a:latin typeface="Calibri"/>
              </a:rPr>
              <a:t>Sonuç — Authentication ≠ Authorization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2194560" cy="54864"/>
          </a:xfrm>
          <a:prstGeom prst="rect">
            <a:avLst/>
          </a:prstGeom>
          <a:solidFill>
            <a:srgbClr val="E7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B8499"/>
                </a:solidFill>
                <a:latin typeface="Calibri"/>
              </a:rPr>
              <a:t>SSDLC: tasarım anından üretim sonrasına güvenlik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920240"/>
            <a:ext cx="5212080" cy="411480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9_ssdl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103120"/>
            <a:ext cx="4937760" cy="2651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29400" y="4846320"/>
            <a:ext cx="4754880" cy="1143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1">
                <a:solidFill>
                  <a:srgbClr val="7B8499"/>
                </a:solidFill>
                <a:latin typeface="Calibri"/>
              </a:rPr>
              <a:t>Altı aşamalı SSDLC döngüsü — Gereksinim, Tasarım, Kodlama, Test, Dağıtım, İzleme. Merkezdeki 'Auth ≠ Authz' ilkesi tüm aşamalarda gözetilir.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920240"/>
            <a:ext cx="5669280" cy="4389120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Mimari bir karar: </a:t>
            </a:r>
            <a:r>
              <a:rPr sz="1400">
                <a:solidFill>
                  <a:srgbClr val="4A5570"/>
                </a:solidFill>
                <a:latin typeface="Calibri"/>
              </a:rPr>
              <a:t>IDOR kod kalitesinden değil, mimari kararlardan doğar; tek satır yamayla kapanmaz.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Tasarım: </a:t>
            </a:r>
            <a:r>
              <a:rPr sz="1400">
                <a:solidFill>
                  <a:srgbClr val="4A5570"/>
                </a:solidFill>
                <a:latin typeface="Calibri"/>
              </a:rPr>
              <a:t>'Her erişimde sahiplik doğrulanır' politikası ilk gün benimsenir.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Geliştirme: </a:t>
            </a:r>
            <a:r>
              <a:rPr sz="1400">
                <a:solidFill>
                  <a:srgbClr val="4A5570"/>
                </a:solidFill>
                <a:latin typeface="Calibri"/>
              </a:rPr>
              <a:t>Merkezî check_object_ownership ile @owner_required dekoratörü beraber çalışır.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Test: </a:t>
            </a:r>
            <a:r>
              <a:rPr sz="1400">
                <a:solidFill>
                  <a:srgbClr val="4A5570"/>
                </a:solidFill>
                <a:latin typeface="Calibri"/>
              </a:rPr>
              <a:t>31 birim test her iki modu CI sürecine bağlar; regresyon anında yakalanır.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Operasyon: </a:t>
            </a:r>
            <a:r>
              <a:rPr sz="1400">
                <a:solidFill>
                  <a:srgbClr val="4A5570"/>
                </a:solidFill>
                <a:latin typeface="Calibri"/>
              </a:rPr>
              <a:t>Güvenlik logları SIEM entegrasyonuna hazır; olay sonrası adli analize uygundur.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73C7E"/>
                </a:solidFill>
                <a:latin typeface="Calibri"/>
              </a:rPr>
              <a:t>●  </a:t>
            </a:r>
            <a:r>
              <a:rPr sz="1400" b="1">
                <a:solidFill>
                  <a:srgbClr val="1B2240"/>
                </a:solidFill>
                <a:latin typeface="Calibri"/>
              </a:rPr>
              <a:t>Kaynak kod: </a:t>
            </a:r>
            <a:r>
              <a:rPr sz="1400">
                <a:solidFill>
                  <a:srgbClr val="4A5570"/>
                </a:solidFill>
                <a:latin typeface="Calibri"/>
              </a:rPr>
              <a:t>github.com/aydemirbrkay/IDOR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7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2D7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B2240"/>
                </a:solidFill>
                <a:latin typeface="Calibri"/>
              </a:rPr>
              <a:t>Kaynakça (References)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2194560" cy="54864"/>
          </a:xfrm>
          <a:prstGeom prst="rect">
            <a:avLst/>
          </a:prstGeom>
          <a:solidFill>
            <a:srgbClr val="E7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B8499"/>
                </a:solidFill>
                <a:latin typeface="Calibri"/>
              </a:rPr>
              <a:t>Standartlar  ·  OWASP  ·  NIST  ·  Akademik kaynaklar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20240"/>
            <a:ext cx="5486400" cy="44348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29968"/>
            <a:ext cx="521208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D7AE5"/>
                </a:solidFill>
                <a:latin typeface="Calibri"/>
              </a:rPr>
              <a:t>Standartlar &amp; Topluluk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06040"/>
            <a:ext cx="51206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5570"/>
                </a:solidFill>
                <a:latin typeface="Calibri"/>
              </a:rPr>
              <a:t>[1] OWASP, "Top 10:2021 — A01 Broken Access Control", 2021.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081528"/>
            <a:ext cx="51206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5570"/>
                </a:solidFill>
                <a:latin typeface="Calibri"/>
              </a:rPr>
              <a:t>[2] OWASP, "API Security Top 10:2023 — API1 BOLA", 2023.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57016"/>
            <a:ext cx="51206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5570"/>
                </a:solidFill>
                <a:latin typeface="Calibri"/>
              </a:rPr>
              <a:t>[3] OWASP, "IDOR Prevention Cheat Sheet", 2024.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032504"/>
            <a:ext cx="51206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5570"/>
                </a:solidFill>
                <a:latin typeface="Calibri"/>
              </a:rPr>
              <a:t>[4] PortSwigger, "What is IDOR? Tutorial &amp; Examples", 2024.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07992"/>
            <a:ext cx="51206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5570"/>
                </a:solidFill>
                <a:latin typeface="Calibri"/>
              </a:rPr>
              <a:t>[5] PortSwigger, "Burp Suite Repeater Documentation", 2024.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83479"/>
            <a:ext cx="51206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5570"/>
                </a:solidFill>
                <a:latin typeface="Calibri"/>
              </a:rPr>
              <a:t>[6] NIST, "SP 800-162 — ABAC Definition", 2014.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458967"/>
            <a:ext cx="51206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5570"/>
                </a:solidFill>
                <a:latin typeface="Calibri"/>
              </a:rPr>
              <a:t>[7] NIST, "SP 800-218 — SSDF v1.1", 2022.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934455"/>
            <a:ext cx="51206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5570"/>
                </a:solidFill>
                <a:latin typeface="Calibri"/>
              </a:rPr>
              <a:t>[8] FIRST.Org, "CVSS v3.1 Specification Document", 2019.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920240"/>
            <a:ext cx="5486400" cy="44348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029968"/>
            <a:ext cx="521208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73C7E"/>
                </a:solidFill>
                <a:latin typeface="Calibri"/>
              </a:rPr>
              <a:t>Yasal Çerçeve &amp; Kütüphane Belgeleri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606040"/>
            <a:ext cx="5120640" cy="56692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5570"/>
                </a:solidFill>
                <a:latin typeface="Calibri"/>
              </a:rPr>
              <a:t>[9] MITRE, "CWE-639: Authorization Bypass Through User-Controlled Key".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136392"/>
            <a:ext cx="5120640" cy="56692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5570"/>
                </a:solidFill>
                <a:latin typeface="Calibri"/>
              </a:rPr>
              <a:t>[10] MITRE, "CWE-284: Improper Access Control".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666744"/>
            <a:ext cx="5120640" cy="56692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5570"/>
                </a:solidFill>
                <a:latin typeface="Calibri"/>
              </a:rPr>
              <a:t>[11] KVKK, "6698 Sayılı Kişisel Verilerin Korunması Kanunu", 2016.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197096"/>
            <a:ext cx="5120640" cy="56692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5570"/>
                </a:solidFill>
                <a:latin typeface="Calibri"/>
              </a:rPr>
              <a:t>[12] EU, "GDPR — Reg. (EU) 2016/679, Article 32", 2016.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727448"/>
            <a:ext cx="5120640" cy="56692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5570"/>
                </a:solidFill>
                <a:latin typeface="Calibri"/>
              </a:rPr>
              <a:t>[13] Pallets, "Flask v3.0 Official Documentation", 2024.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5257800"/>
            <a:ext cx="5120640" cy="56692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5570"/>
                </a:solidFill>
                <a:latin typeface="Calibri"/>
              </a:rPr>
              <a:t>[14] Pallets, "Werkzeug Security Helpers", 2024.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5788152"/>
            <a:ext cx="5120640" cy="56692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5570"/>
                </a:solidFill>
                <a:latin typeface="Calibri"/>
              </a:rPr>
              <a:t>[15] Aydemir B., Sarıduman F., "IDOR Güvenlik Simülasyonu — Kaynak Kod Deposu", GitHub,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