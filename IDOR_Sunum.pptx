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00_cover_bg.png"/>
          <p:cNvPicPr>
            <a:picLocks noChangeAspect="1"/>
          </p:cNvPicPr>
          <p:nvPr/>
        </p:nvPicPr>
        <p:blipFill>
          <a:blip r:embed="rId2"/>
          <a:stretch>
            <a:fillRect/>
          </a:stretch>
        </p:blipFill>
        <p:spPr>
          <a:xfrm>
            <a:off x="0" y="0"/>
            <a:ext cx="12191695" cy="6858000"/>
          </a:xfrm>
          <a:prstGeom prst="rect">
            <a:avLst/>
          </a:prstGeom>
        </p:spPr>
      </p:pic>
      <p:sp>
        <p:nvSpPr>
          <p:cNvPr id="4" name="Rounded Rectangle 3"/>
          <p:cNvSpPr/>
          <p:nvPr/>
        </p:nvSpPr>
        <p:spPr>
          <a:xfrm>
            <a:off x="640080" y="548640"/>
            <a:ext cx="10908792" cy="5760720"/>
          </a:xfrm>
          <a:prstGeom prst="roundRect">
            <a:avLst>
              <a:gd name="adj" fmla="val 8000"/>
            </a:avLst>
          </a:prstGeom>
          <a:solidFill>
            <a:srgbClr val="121933"/>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48640"/>
            <a:ext cx="10908792" cy="594360"/>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48640"/>
            <a:ext cx="10908792" cy="594360"/>
          </a:xfrm>
          <a:prstGeom prst="rect">
            <a:avLst/>
          </a:prstGeom>
          <a:noFill/>
        </p:spPr>
        <p:txBody>
          <a:bodyPr wrap="square" lIns="36000" rIns="36000" tIns="18000" bIns="18000" anchor="ctr">
            <a:spAutoFit/>
          </a:bodyPr>
          <a:lstStyle/>
          <a:p>
            <a:pPr algn="ctr"/>
            <a:r>
              <a:rPr sz="1400" b="1" i="0">
                <a:solidFill>
                  <a:srgbClr val="0B1020"/>
                </a:solidFill>
                <a:latin typeface="Calibri"/>
              </a:rPr>
              <a:t>T.C.  ERCİYES ÜNİVERSİTESİ  ·  MÜHENDİSLİK FAKÜLTESİ  ·  BİLGİSAYAR MÜHENDİSLİĞİ BÖLÜMÜ</a:t>
            </a:r>
          </a:p>
        </p:txBody>
      </p:sp>
      <p:sp>
        <p:nvSpPr>
          <p:cNvPr id="7" name="TextBox 6"/>
          <p:cNvSpPr txBox="1"/>
          <p:nvPr/>
        </p:nvSpPr>
        <p:spPr>
          <a:xfrm>
            <a:off x="640080" y="1554480"/>
            <a:ext cx="10908792" cy="1097280"/>
          </a:xfrm>
          <a:prstGeom prst="rect">
            <a:avLst/>
          </a:prstGeom>
          <a:noFill/>
        </p:spPr>
        <p:txBody>
          <a:bodyPr wrap="square" lIns="36000" rIns="36000" tIns="18000" bIns="18000" anchor="ctr">
            <a:spAutoFit/>
          </a:bodyPr>
          <a:lstStyle/>
          <a:p>
            <a:pPr algn="ctr"/>
            <a:r>
              <a:rPr sz="7200" b="1" i="0">
                <a:solidFill>
                  <a:srgbClr val="00E5FF"/>
                </a:solidFill>
                <a:latin typeface="Calibri"/>
              </a:rPr>
              <a:t>IDOR</a:t>
            </a:r>
          </a:p>
        </p:txBody>
      </p:sp>
      <p:sp>
        <p:nvSpPr>
          <p:cNvPr id="8" name="TextBox 7"/>
          <p:cNvSpPr txBox="1"/>
          <p:nvPr/>
        </p:nvSpPr>
        <p:spPr>
          <a:xfrm>
            <a:off x="640080" y="2468880"/>
            <a:ext cx="10908792" cy="548640"/>
          </a:xfrm>
          <a:prstGeom prst="rect">
            <a:avLst/>
          </a:prstGeom>
          <a:noFill/>
        </p:spPr>
        <p:txBody>
          <a:bodyPr wrap="square" lIns="36000" rIns="36000" tIns="18000" bIns="18000" anchor="ctr">
            <a:spAutoFit/>
          </a:bodyPr>
          <a:lstStyle/>
          <a:p>
            <a:pPr algn="ctr"/>
            <a:r>
              <a:rPr sz="2800" b="1" i="0">
                <a:solidFill>
                  <a:srgbClr val="FFFFFF"/>
                </a:solidFill>
                <a:latin typeface="Calibri"/>
              </a:rPr>
              <a:t>Uygulama ve Analiz Raporu</a:t>
            </a:r>
          </a:p>
        </p:txBody>
      </p:sp>
      <p:sp>
        <p:nvSpPr>
          <p:cNvPr id="9" name="TextBox 8"/>
          <p:cNvSpPr txBox="1"/>
          <p:nvPr/>
        </p:nvSpPr>
        <p:spPr>
          <a:xfrm>
            <a:off x="640080" y="2971800"/>
            <a:ext cx="10908792" cy="411480"/>
          </a:xfrm>
          <a:prstGeom prst="rect">
            <a:avLst/>
          </a:prstGeom>
          <a:noFill/>
        </p:spPr>
        <p:txBody>
          <a:bodyPr wrap="square" lIns="36000" rIns="36000" tIns="18000" bIns="18000" anchor="ctr">
            <a:spAutoFit/>
          </a:bodyPr>
          <a:lstStyle/>
          <a:p>
            <a:pPr algn="ctr"/>
            <a:r>
              <a:rPr sz="1500" b="0" i="1">
                <a:solidFill>
                  <a:srgbClr val="8896B5"/>
                </a:solidFill>
                <a:latin typeface="Calibri"/>
              </a:rPr>
              <a:t>Insecure Direct Object Reference — Güvensiz Doğrudan Nesne Referansı</a:t>
            </a:r>
          </a:p>
        </p:txBody>
      </p:sp>
      <p:sp>
        <p:nvSpPr>
          <p:cNvPr id="10" name="TextBox 9"/>
          <p:cNvSpPr txBox="1"/>
          <p:nvPr/>
        </p:nvSpPr>
        <p:spPr>
          <a:xfrm>
            <a:off x="640080" y="3337560"/>
            <a:ext cx="10908792" cy="365760"/>
          </a:xfrm>
          <a:prstGeom prst="rect">
            <a:avLst/>
          </a:prstGeom>
          <a:noFill/>
        </p:spPr>
        <p:txBody>
          <a:bodyPr wrap="square" lIns="36000" rIns="36000" tIns="18000" bIns="18000" anchor="ctr">
            <a:spAutoFit/>
          </a:bodyPr>
          <a:lstStyle/>
          <a:p>
            <a:pPr algn="ctr"/>
            <a:r>
              <a:rPr sz="1300" b="1" i="0">
                <a:solidFill>
                  <a:srgbClr val="FFC857"/>
                </a:solidFill>
                <a:latin typeface="Calibri"/>
              </a:rPr>
              <a:t>Zafiyet Simülasyonu  ·  Sömürü Süreci  ·  Güvenli Kod Geliştirme</a:t>
            </a:r>
          </a:p>
        </p:txBody>
      </p:sp>
      <p:cxnSp>
        <p:nvCxnSpPr>
          <p:cNvPr id="11" name="Connector 10"/>
          <p:cNvCxnSpPr/>
          <p:nvPr/>
        </p:nvCxnSpPr>
        <p:spPr>
          <a:xfrm>
            <a:off x="3200400" y="3977639"/>
            <a:ext cx="5788152" cy="0"/>
          </a:xfrm>
          <a:prstGeom prst="line">
            <a:avLst/>
          </a:prstGeom>
          <a:ln w="12700">
            <a:solidFill>
              <a:srgbClr val="00E5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4160520"/>
            <a:ext cx="5029200" cy="365760"/>
          </a:xfrm>
          <a:prstGeom prst="rect">
            <a:avLst/>
          </a:prstGeom>
          <a:noFill/>
        </p:spPr>
        <p:txBody>
          <a:bodyPr wrap="square" lIns="36000" rIns="36000" tIns="18000" bIns="18000" anchor="t">
            <a:spAutoFit/>
          </a:bodyPr>
          <a:lstStyle/>
          <a:p>
            <a:pPr algn="l"/>
            <a:r>
              <a:rPr sz="1200" b="1" i="0">
                <a:solidFill>
                  <a:srgbClr val="00E5FF"/>
                </a:solidFill>
                <a:latin typeface="Calibri"/>
              </a:rPr>
              <a:t>HAZIRLAYANLAR</a:t>
            </a:r>
          </a:p>
        </p:txBody>
      </p:sp>
      <p:sp>
        <p:nvSpPr>
          <p:cNvPr id="13" name="TextBox 12"/>
          <p:cNvSpPr txBox="1"/>
          <p:nvPr/>
        </p:nvSpPr>
        <p:spPr>
          <a:xfrm>
            <a:off x="914400" y="4480560"/>
            <a:ext cx="5029200" cy="384048"/>
          </a:xfrm>
          <a:prstGeom prst="rect">
            <a:avLst/>
          </a:prstGeom>
          <a:noFill/>
        </p:spPr>
        <p:txBody>
          <a:bodyPr wrap="square" lIns="36000" rIns="36000" tIns="18000" bIns="18000" anchor="t">
            <a:spAutoFit/>
          </a:bodyPr>
          <a:lstStyle/>
          <a:p>
            <a:pPr algn="l"/>
            <a:r>
              <a:rPr sz="1500" b="1" i="0">
                <a:solidFill>
                  <a:srgbClr val="FFFFFF"/>
                </a:solidFill>
                <a:latin typeface="Calibri"/>
              </a:rPr>
              <a:t>Berkay AYDEMİR</a:t>
            </a:r>
          </a:p>
        </p:txBody>
      </p:sp>
      <p:sp>
        <p:nvSpPr>
          <p:cNvPr id="14" name="TextBox 13"/>
          <p:cNvSpPr txBox="1"/>
          <p:nvPr/>
        </p:nvSpPr>
        <p:spPr>
          <a:xfrm>
            <a:off x="914400" y="4800600"/>
            <a:ext cx="5029200" cy="320040"/>
          </a:xfrm>
          <a:prstGeom prst="rect">
            <a:avLst/>
          </a:prstGeom>
          <a:noFill/>
        </p:spPr>
        <p:txBody>
          <a:bodyPr wrap="square" lIns="36000" rIns="36000" tIns="18000" bIns="18000" anchor="t">
            <a:spAutoFit/>
          </a:bodyPr>
          <a:lstStyle/>
          <a:p>
            <a:pPr algn="l"/>
            <a:r>
              <a:rPr sz="1100" b="0" i="0">
                <a:solidFill>
                  <a:srgbClr val="8896B5"/>
                </a:solidFill>
                <a:latin typeface="Calibri"/>
              </a:rPr>
              <a:t>Öğrenci No: 1030521387</a:t>
            </a:r>
          </a:p>
        </p:txBody>
      </p:sp>
      <p:sp>
        <p:nvSpPr>
          <p:cNvPr id="15" name="TextBox 14"/>
          <p:cNvSpPr txBox="1"/>
          <p:nvPr/>
        </p:nvSpPr>
        <p:spPr>
          <a:xfrm>
            <a:off x="914400" y="5166360"/>
            <a:ext cx="5029200" cy="384048"/>
          </a:xfrm>
          <a:prstGeom prst="rect">
            <a:avLst/>
          </a:prstGeom>
          <a:noFill/>
        </p:spPr>
        <p:txBody>
          <a:bodyPr wrap="square" lIns="36000" rIns="36000" tIns="18000" bIns="18000" anchor="t">
            <a:spAutoFit/>
          </a:bodyPr>
          <a:lstStyle/>
          <a:p>
            <a:pPr algn="l"/>
            <a:r>
              <a:rPr sz="1500" b="1" i="0">
                <a:solidFill>
                  <a:srgbClr val="FFFFFF"/>
                </a:solidFill>
                <a:latin typeface="Calibri"/>
              </a:rPr>
              <a:t>Fatih SARIDUMAN</a:t>
            </a:r>
          </a:p>
        </p:txBody>
      </p:sp>
      <p:sp>
        <p:nvSpPr>
          <p:cNvPr id="16" name="TextBox 15"/>
          <p:cNvSpPr txBox="1"/>
          <p:nvPr/>
        </p:nvSpPr>
        <p:spPr>
          <a:xfrm>
            <a:off x="914400" y="5486400"/>
            <a:ext cx="5029200" cy="320040"/>
          </a:xfrm>
          <a:prstGeom prst="rect">
            <a:avLst/>
          </a:prstGeom>
          <a:noFill/>
        </p:spPr>
        <p:txBody>
          <a:bodyPr wrap="square" lIns="36000" rIns="36000" tIns="18000" bIns="18000" anchor="t">
            <a:spAutoFit/>
          </a:bodyPr>
          <a:lstStyle/>
          <a:p>
            <a:pPr algn="l"/>
            <a:r>
              <a:rPr sz="1100" b="0" i="0">
                <a:solidFill>
                  <a:srgbClr val="8896B5"/>
                </a:solidFill>
                <a:latin typeface="Calibri"/>
              </a:rPr>
              <a:t>Öğrenci No: 1030521205</a:t>
            </a:r>
          </a:p>
        </p:txBody>
      </p:sp>
      <p:sp>
        <p:nvSpPr>
          <p:cNvPr id="17" name="TextBox 16"/>
          <p:cNvSpPr txBox="1"/>
          <p:nvPr/>
        </p:nvSpPr>
        <p:spPr>
          <a:xfrm>
            <a:off x="6400800" y="4160520"/>
            <a:ext cx="5029200" cy="365760"/>
          </a:xfrm>
          <a:prstGeom prst="rect">
            <a:avLst/>
          </a:prstGeom>
          <a:noFill/>
        </p:spPr>
        <p:txBody>
          <a:bodyPr wrap="square" lIns="36000" rIns="36000" tIns="18000" bIns="18000" anchor="t">
            <a:spAutoFit/>
          </a:bodyPr>
          <a:lstStyle/>
          <a:p>
            <a:pPr algn="l"/>
            <a:r>
              <a:rPr sz="1200" b="1" i="0">
                <a:solidFill>
                  <a:srgbClr val="00E5FF"/>
                </a:solidFill>
                <a:latin typeface="Calibri"/>
              </a:rPr>
              <a:t>DANIŞMAN</a:t>
            </a:r>
          </a:p>
        </p:txBody>
      </p:sp>
      <p:sp>
        <p:nvSpPr>
          <p:cNvPr id="18" name="TextBox 17"/>
          <p:cNvSpPr txBox="1"/>
          <p:nvPr/>
        </p:nvSpPr>
        <p:spPr>
          <a:xfrm>
            <a:off x="6400800" y="4480560"/>
            <a:ext cx="5029200" cy="384048"/>
          </a:xfrm>
          <a:prstGeom prst="rect">
            <a:avLst/>
          </a:prstGeom>
          <a:noFill/>
        </p:spPr>
        <p:txBody>
          <a:bodyPr wrap="square" lIns="36000" rIns="36000" tIns="18000" bIns="18000" anchor="t">
            <a:spAutoFit/>
          </a:bodyPr>
          <a:lstStyle/>
          <a:p>
            <a:pPr algn="l"/>
            <a:r>
              <a:rPr sz="1500" b="1" i="0">
                <a:solidFill>
                  <a:srgbClr val="FFFFFF"/>
                </a:solidFill>
                <a:latin typeface="Calibri"/>
              </a:rPr>
              <a:t>Doç. Dr. Nesibe YALÇIN</a:t>
            </a:r>
          </a:p>
        </p:txBody>
      </p:sp>
      <p:sp>
        <p:nvSpPr>
          <p:cNvPr id="19" name="TextBox 18"/>
          <p:cNvSpPr txBox="1"/>
          <p:nvPr/>
        </p:nvSpPr>
        <p:spPr>
          <a:xfrm>
            <a:off x="6400800" y="4800600"/>
            <a:ext cx="5029200" cy="320040"/>
          </a:xfrm>
          <a:prstGeom prst="rect">
            <a:avLst/>
          </a:prstGeom>
          <a:noFill/>
        </p:spPr>
        <p:txBody>
          <a:bodyPr wrap="square" lIns="36000" rIns="36000" tIns="18000" bIns="18000" anchor="t">
            <a:spAutoFit/>
          </a:bodyPr>
          <a:lstStyle/>
          <a:p>
            <a:pPr algn="l"/>
            <a:r>
              <a:rPr sz="1100" b="0" i="1">
                <a:solidFill>
                  <a:srgbClr val="8896B5"/>
                </a:solidFill>
                <a:latin typeface="Calibri"/>
              </a:rPr>
              <a:t>AVESİS — Erciyes Üniversitesi</a:t>
            </a:r>
          </a:p>
        </p:txBody>
      </p:sp>
      <p:sp>
        <p:nvSpPr>
          <p:cNvPr id="20" name="TextBox 19"/>
          <p:cNvSpPr txBox="1"/>
          <p:nvPr/>
        </p:nvSpPr>
        <p:spPr>
          <a:xfrm>
            <a:off x="6400800" y="5303520"/>
            <a:ext cx="5029200" cy="365760"/>
          </a:xfrm>
          <a:prstGeom prst="rect">
            <a:avLst/>
          </a:prstGeom>
          <a:noFill/>
        </p:spPr>
        <p:txBody>
          <a:bodyPr wrap="square" lIns="36000" rIns="36000" tIns="18000" bIns="18000" anchor="t">
            <a:spAutoFit/>
          </a:bodyPr>
          <a:lstStyle/>
          <a:p>
            <a:pPr algn="l"/>
            <a:r>
              <a:rPr sz="1200" b="1" i="0">
                <a:solidFill>
                  <a:srgbClr val="00E5FF"/>
                </a:solidFill>
                <a:latin typeface="Calibri"/>
              </a:rPr>
              <a:t>TARİH &amp; YER</a:t>
            </a:r>
          </a:p>
        </p:txBody>
      </p:sp>
      <p:sp>
        <p:nvSpPr>
          <p:cNvPr id="21" name="TextBox 20"/>
          <p:cNvSpPr txBox="1"/>
          <p:nvPr/>
        </p:nvSpPr>
        <p:spPr>
          <a:xfrm>
            <a:off x="6400800" y="5623560"/>
            <a:ext cx="5029200" cy="384048"/>
          </a:xfrm>
          <a:prstGeom prst="rect">
            <a:avLst/>
          </a:prstGeom>
          <a:noFill/>
        </p:spPr>
        <p:txBody>
          <a:bodyPr wrap="square" lIns="36000" rIns="36000" tIns="18000" bIns="18000" anchor="t">
            <a:spAutoFit/>
          </a:bodyPr>
          <a:lstStyle/>
          <a:p>
            <a:pPr algn="l"/>
            <a:r>
              <a:rPr sz="1400" b="1" i="0">
                <a:solidFill>
                  <a:srgbClr val="FFFFFF"/>
                </a:solidFill>
                <a:latin typeface="Calibri"/>
              </a:rPr>
              <a:t>Haziran 2026  ·  KAYSERİ</a:t>
            </a:r>
          </a:p>
        </p:txBody>
      </p:sp>
      <p:sp>
        <p:nvSpPr>
          <p:cNvPr id="22" name="Rounded Rectangle 21"/>
          <p:cNvSpPr/>
          <p:nvPr/>
        </p:nvSpPr>
        <p:spPr>
          <a:xfrm>
            <a:off x="640080" y="6080760"/>
            <a:ext cx="10908792" cy="228600"/>
          </a:xfrm>
          <a:prstGeom prst="roundRect">
            <a:avLst>
              <a:gd name="adj" fmla="val 8000"/>
            </a:avLst>
          </a:prstGeom>
          <a:solidFill>
            <a:srgbClr val="FF3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6080760"/>
            <a:ext cx="10908792" cy="228600"/>
          </a:xfrm>
          <a:prstGeom prst="rect">
            <a:avLst/>
          </a:prstGeom>
          <a:noFill/>
        </p:spPr>
        <p:txBody>
          <a:bodyPr wrap="square" lIns="36000" rIns="36000" tIns="18000" bIns="18000" anchor="ctr">
            <a:spAutoFit/>
          </a:bodyPr>
          <a:lstStyle/>
          <a:p>
            <a:pPr algn="ctr"/>
            <a:r>
              <a:rPr sz="1000" b="1" i="0">
                <a:solidFill>
                  <a:srgbClr val="FFFFFF"/>
                </a:solidFill>
                <a:latin typeface="Calibri"/>
              </a:rPr>
              <a:t>OWASP API1:2023  ·  Broken Object Level Authorization  ·  Yatay Yetki Yükseltme Simülasyonu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01</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İçindekiler ve Özet</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Sunum yol haritası ve çalışmanın özet (abstract) bölümü</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303520" cy="5029200"/>
          </a:xfrm>
          <a:prstGeom prst="roundRect">
            <a:avLst>
              <a:gd name="adj" fmla="val 8000"/>
            </a:avLst>
          </a:prstGeom>
          <a:solidFill>
            <a:srgbClr val="121933"/>
          </a:solidFill>
          <a:ln>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280160"/>
            <a:ext cx="5029200" cy="411480"/>
          </a:xfrm>
          <a:prstGeom prst="rect">
            <a:avLst/>
          </a:prstGeom>
          <a:noFill/>
        </p:spPr>
        <p:txBody>
          <a:bodyPr wrap="square" lIns="36000" rIns="36000" tIns="18000" bIns="18000" anchor="t">
            <a:spAutoFit/>
          </a:bodyPr>
          <a:lstStyle/>
          <a:p>
            <a:pPr algn="l"/>
            <a:r>
              <a:rPr sz="1800" b="1" i="0">
                <a:solidFill>
                  <a:srgbClr val="00E5FF"/>
                </a:solidFill>
                <a:latin typeface="Calibri"/>
              </a:rPr>
              <a:t>İÇİNDEKİLER</a:t>
            </a:r>
          </a:p>
        </p:txBody>
      </p:sp>
      <p:sp>
        <p:nvSpPr>
          <p:cNvPr id="12" name="Rounded Rectangle 11"/>
          <p:cNvSpPr/>
          <p:nvPr/>
        </p:nvSpPr>
        <p:spPr>
          <a:xfrm>
            <a:off x="640080" y="1783080"/>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783080"/>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01</a:t>
            </a:r>
          </a:p>
        </p:txBody>
      </p:sp>
      <p:sp>
        <p:nvSpPr>
          <p:cNvPr id="14" name="TextBox 13"/>
          <p:cNvSpPr txBox="1"/>
          <p:nvPr/>
        </p:nvSpPr>
        <p:spPr>
          <a:xfrm>
            <a:off x="1234440" y="1783080"/>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İçindekiler &amp; Özet</a:t>
            </a:r>
          </a:p>
        </p:txBody>
      </p:sp>
      <p:sp>
        <p:nvSpPr>
          <p:cNvPr id="15" name="Rounded Rectangle 14"/>
          <p:cNvSpPr/>
          <p:nvPr/>
        </p:nvSpPr>
        <p:spPr>
          <a:xfrm>
            <a:off x="640080" y="2221991"/>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221991"/>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02</a:t>
            </a:r>
          </a:p>
        </p:txBody>
      </p:sp>
      <p:sp>
        <p:nvSpPr>
          <p:cNvPr id="17" name="TextBox 16"/>
          <p:cNvSpPr txBox="1"/>
          <p:nvPr/>
        </p:nvSpPr>
        <p:spPr>
          <a:xfrm>
            <a:off x="1234440" y="2221991"/>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Giriş ve IDOR Teorik Altyapı</a:t>
            </a:r>
          </a:p>
        </p:txBody>
      </p:sp>
      <p:sp>
        <p:nvSpPr>
          <p:cNvPr id="18" name="Rounded Rectangle 17"/>
          <p:cNvSpPr/>
          <p:nvPr/>
        </p:nvSpPr>
        <p:spPr>
          <a:xfrm>
            <a:off x="640080" y="2660903"/>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660903"/>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03</a:t>
            </a:r>
          </a:p>
        </p:txBody>
      </p:sp>
      <p:sp>
        <p:nvSpPr>
          <p:cNvPr id="20" name="TextBox 19"/>
          <p:cNvSpPr txBox="1"/>
          <p:nvPr/>
        </p:nvSpPr>
        <p:spPr>
          <a:xfrm>
            <a:off x="1234440" y="2660903"/>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Yatay vs Dikey Yetki Yükseltme</a:t>
            </a:r>
          </a:p>
        </p:txBody>
      </p:sp>
      <p:sp>
        <p:nvSpPr>
          <p:cNvPr id="21" name="Rounded Rectangle 20"/>
          <p:cNvSpPr/>
          <p:nvPr/>
        </p:nvSpPr>
        <p:spPr>
          <a:xfrm>
            <a:off x="640080" y="3099815"/>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099815"/>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04</a:t>
            </a:r>
          </a:p>
        </p:txBody>
      </p:sp>
      <p:sp>
        <p:nvSpPr>
          <p:cNvPr id="23" name="TextBox 22"/>
          <p:cNvSpPr txBox="1"/>
          <p:nvPr/>
        </p:nvSpPr>
        <p:spPr>
          <a:xfrm>
            <a:off x="1234440" y="3099815"/>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Kullanılan Teknolojiler &amp; Lab</a:t>
            </a:r>
          </a:p>
        </p:txBody>
      </p:sp>
      <p:sp>
        <p:nvSpPr>
          <p:cNvPr id="24" name="Rounded Rectangle 23"/>
          <p:cNvSpPr/>
          <p:nvPr/>
        </p:nvSpPr>
        <p:spPr>
          <a:xfrm>
            <a:off x="640080" y="3538727"/>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538727"/>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05</a:t>
            </a:r>
          </a:p>
        </p:txBody>
      </p:sp>
      <p:sp>
        <p:nvSpPr>
          <p:cNvPr id="26" name="TextBox 25"/>
          <p:cNvSpPr txBox="1"/>
          <p:nvPr/>
        </p:nvSpPr>
        <p:spPr>
          <a:xfrm>
            <a:off x="1234440" y="3538727"/>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Uygulama Mimarisi &amp; Senaryo</a:t>
            </a:r>
          </a:p>
        </p:txBody>
      </p:sp>
      <p:sp>
        <p:nvSpPr>
          <p:cNvPr id="27" name="Rounded Rectangle 26"/>
          <p:cNvSpPr/>
          <p:nvPr/>
        </p:nvSpPr>
        <p:spPr>
          <a:xfrm>
            <a:off x="640080" y="3977639"/>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977639"/>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06</a:t>
            </a:r>
          </a:p>
        </p:txBody>
      </p:sp>
      <p:sp>
        <p:nvSpPr>
          <p:cNvPr id="29" name="TextBox 28"/>
          <p:cNvSpPr txBox="1"/>
          <p:nvPr/>
        </p:nvSpPr>
        <p:spPr>
          <a:xfrm>
            <a:off x="1234440" y="3977639"/>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Zafiyetin Tespiti (Discovery)</a:t>
            </a:r>
          </a:p>
        </p:txBody>
      </p:sp>
      <p:sp>
        <p:nvSpPr>
          <p:cNvPr id="30" name="Rounded Rectangle 29"/>
          <p:cNvSpPr/>
          <p:nvPr/>
        </p:nvSpPr>
        <p:spPr>
          <a:xfrm>
            <a:off x="640080" y="4416552"/>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416552"/>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07</a:t>
            </a:r>
          </a:p>
        </p:txBody>
      </p:sp>
      <p:sp>
        <p:nvSpPr>
          <p:cNvPr id="32" name="TextBox 31"/>
          <p:cNvSpPr txBox="1"/>
          <p:nvPr/>
        </p:nvSpPr>
        <p:spPr>
          <a:xfrm>
            <a:off x="1234440" y="4416552"/>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Zafiyetin Sömürülmesi (Exploit)</a:t>
            </a:r>
          </a:p>
        </p:txBody>
      </p:sp>
      <p:sp>
        <p:nvSpPr>
          <p:cNvPr id="33" name="Rounded Rectangle 32"/>
          <p:cNvSpPr/>
          <p:nvPr/>
        </p:nvSpPr>
        <p:spPr>
          <a:xfrm>
            <a:off x="640080" y="4855464"/>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4855464"/>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08</a:t>
            </a:r>
          </a:p>
        </p:txBody>
      </p:sp>
      <p:sp>
        <p:nvSpPr>
          <p:cNvPr id="35" name="TextBox 34"/>
          <p:cNvSpPr txBox="1"/>
          <p:nvPr/>
        </p:nvSpPr>
        <p:spPr>
          <a:xfrm>
            <a:off x="1234440" y="4855464"/>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Etki Analizi &amp; CVSS Skoru</a:t>
            </a:r>
          </a:p>
        </p:txBody>
      </p:sp>
      <p:sp>
        <p:nvSpPr>
          <p:cNvPr id="36" name="Rounded Rectangle 35"/>
          <p:cNvSpPr/>
          <p:nvPr/>
        </p:nvSpPr>
        <p:spPr>
          <a:xfrm>
            <a:off x="640080" y="5294376"/>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294376"/>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09</a:t>
            </a:r>
          </a:p>
        </p:txBody>
      </p:sp>
      <p:sp>
        <p:nvSpPr>
          <p:cNvPr id="38" name="TextBox 37"/>
          <p:cNvSpPr txBox="1"/>
          <p:nvPr/>
        </p:nvSpPr>
        <p:spPr>
          <a:xfrm>
            <a:off x="1234440" y="5294376"/>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Çözüm: Sahiplik Kontrolü</a:t>
            </a:r>
          </a:p>
        </p:txBody>
      </p:sp>
      <p:sp>
        <p:nvSpPr>
          <p:cNvPr id="39" name="Rounded Rectangle 38"/>
          <p:cNvSpPr/>
          <p:nvPr/>
        </p:nvSpPr>
        <p:spPr>
          <a:xfrm>
            <a:off x="640080" y="5733288"/>
            <a:ext cx="502920" cy="384048"/>
          </a:xfrm>
          <a:prstGeom prst="roundRect">
            <a:avLst>
              <a:gd name="adj" fmla="val 8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733288"/>
            <a:ext cx="502920" cy="384048"/>
          </a:xfrm>
          <a:prstGeom prst="rect">
            <a:avLst/>
          </a:prstGeom>
          <a:noFill/>
        </p:spPr>
        <p:txBody>
          <a:bodyPr wrap="square" lIns="36000" rIns="36000" tIns="18000" bIns="18000" anchor="ctr">
            <a:spAutoFit/>
          </a:bodyPr>
          <a:lstStyle/>
          <a:p>
            <a:pPr algn="ctr"/>
            <a:r>
              <a:rPr sz="1200" b="1" i="0">
                <a:solidFill>
                  <a:srgbClr val="0B1020"/>
                </a:solidFill>
                <a:latin typeface="Calibri"/>
              </a:rPr>
              <a:t>10</a:t>
            </a:r>
          </a:p>
        </p:txBody>
      </p:sp>
      <p:sp>
        <p:nvSpPr>
          <p:cNvPr id="41" name="TextBox 40"/>
          <p:cNvSpPr txBox="1"/>
          <p:nvPr/>
        </p:nvSpPr>
        <p:spPr>
          <a:xfrm>
            <a:off x="1234440" y="5733288"/>
            <a:ext cx="4480560" cy="384048"/>
          </a:xfrm>
          <a:prstGeom prst="rect">
            <a:avLst/>
          </a:prstGeom>
          <a:noFill/>
        </p:spPr>
        <p:txBody>
          <a:bodyPr wrap="square" lIns="36000" rIns="36000" tIns="18000" bIns="18000" anchor="ctr">
            <a:spAutoFit/>
          </a:bodyPr>
          <a:lstStyle/>
          <a:p>
            <a:pPr algn="l"/>
            <a:r>
              <a:rPr sz="1300" b="0" i="0">
                <a:solidFill>
                  <a:srgbClr val="E8ECF8"/>
                </a:solidFill>
                <a:latin typeface="Calibri"/>
              </a:rPr>
              <a:t>Sonuç &amp; SSDLC</a:t>
            </a:r>
          </a:p>
        </p:txBody>
      </p:sp>
      <p:sp>
        <p:nvSpPr>
          <p:cNvPr id="42" name="Rounded Rectangle 41"/>
          <p:cNvSpPr/>
          <p:nvPr/>
        </p:nvSpPr>
        <p:spPr>
          <a:xfrm>
            <a:off x="5943600" y="1188720"/>
            <a:ext cx="5852160" cy="5029200"/>
          </a:xfrm>
          <a:prstGeom prst="roundRect">
            <a:avLst>
              <a:gd name="adj" fmla="val 8000"/>
            </a:avLst>
          </a:prstGeom>
          <a:solidFill>
            <a:srgbClr val="121933"/>
          </a:solidFill>
          <a:ln>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26480" y="1280160"/>
            <a:ext cx="5486400" cy="411480"/>
          </a:xfrm>
          <a:prstGeom prst="rect">
            <a:avLst/>
          </a:prstGeom>
          <a:noFill/>
        </p:spPr>
        <p:txBody>
          <a:bodyPr wrap="square" lIns="36000" rIns="36000" tIns="18000" bIns="18000" anchor="t">
            <a:spAutoFit/>
          </a:bodyPr>
          <a:lstStyle/>
          <a:p>
            <a:pPr algn="l"/>
            <a:r>
              <a:rPr sz="1800" b="1" i="0">
                <a:solidFill>
                  <a:srgbClr val="FFC857"/>
                </a:solidFill>
                <a:latin typeface="Calibri"/>
              </a:rPr>
              <a:t>ÖZET (ABSTRACT)</a:t>
            </a:r>
          </a:p>
        </p:txBody>
      </p:sp>
      <p:sp>
        <p:nvSpPr>
          <p:cNvPr id="44" name="TextBox 43"/>
          <p:cNvSpPr txBox="1"/>
          <p:nvPr/>
        </p:nvSpPr>
        <p:spPr>
          <a:xfrm>
            <a:off x="6126480" y="1737360"/>
            <a:ext cx="5486400" cy="1280160"/>
          </a:xfrm>
          <a:prstGeom prst="rect">
            <a:avLst/>
          </a:prstGeom>
          <a:noFill/>
        </p:spPr>
        <p:txBody>
          <a:bodyPr wrap="square" lIns="36000" rIns="36000" tIns="18000" bIns="18000" anchor="t">
            <a:spAutoFit/>
          </a:bodyPr>
          <a:lstStyle/>
          <a:p>
            <a:pPr algn="l"/>
            <a:r>
              <a:rPr sz="1200" b="0" i="0">
                <a:solidFill>
                  <a:srgbClr val="E8ECF8"/>
                </a:solidFill>
                <a:latin typeface="Calibri"/>
              </a:rPr>
              <a:t>Bu çalışmada OWASP API1:2023 listesinin birinci sırasında yer alan Broken Object Level Authorization (BOLA / IDOR) zafiyeti, Python Flask ile geliştirilen çift modlu bir dijital fatura yönetim sistemi simülasyonu üzerinden uçtan uca incelenmiştir.</a:t>
            </a:r>
          </a:p>
        </p:txBody>
      </p:sp>
      <p:sp>
        <p:nvSpPr>
          <p:cNvPr id="45" name="Rounded Rectangle 44"/>
          <p:cNvSpPr/>
          <p:nvPr/>
        </p:nvSpPr>
        <p:spPr>
          <a:xfrm>
            <a:off x="6126480" y="3154680"/>
            <a:ext cx="5486400" cy="502920"/>
          </a:xfrm>
          <a:prstGeom prst="roundRect">
            <a:avLst>
              <a:gd name="adj" fmla="val 8000"/>
            </a:avLst>
          </a:prstGeom>
          <a:solidFill>
            <a:srgbClr val="161E3D"/>
          </a:solidFill>
          <a:ln>
            <a:solidFill>
              <a:srgbClr val="FF3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63640" y="3154680"/>
            <a:ext cx="5303520" cy="502920"/>
          </a:xfrm>
          <a:prstGeom prst="rect">
            <a:avLst/>
          </a:prstGeom>
          <a:noFill/>
        </p:spPr>
        <p:txBody>
          <a:bodyPr wrap="square" lIns="36000" rIns="36000" tIns="18000" bIns="18000" anchor="ctr">
            <a:spAutoFit/>
          </a:bodyPr>
          <a:lstStyle/>
          <a:p>
            <a:pPr algn="l"/>
            <a:r>
              <a:rPr sz="1200" b="1" i="0">
                <a:solidFill>
                  <a:srgbClr val="FF3B5C"/>
                </a:solidFill>
                <a:latin typeface="Calibri"/>
              </a:rPr>
              <a:t>VULNERABLE Mod  →  /api/invoice/&lt;id&gt; sahiplik kontrolü YOK</a:t>
            </a:r>
          </a:p>
        </p:txBody>
      </p:sp>
      <p:sp>
        <p:nvSpPr>
          <p:cNvPr id="47" name="Rounded Rectangle 46"/>
          <p:cNvSpPr/>
          <p:nvPr/>
        </p:nvSpPr>
        <p:spPr>
          <a:xfrm>
            <a:off x="6126480" y="3749039"/>
            <a:ext cx="5486400" cy="502920"/>
          </a:xfrm>
          <a:prstGeom prst="roundRect">
            <a:avLst>
              <a:gd name="adj" fmla="val 8000"/>
            </a:avLst>
          </a:prstGeom>
          <a:solidFill>
            <a:srgbClr val="161E3D"/>
          </a:solidFill>
          <a:ln>
            <a:solidFill>
              <a:srgbClr val="00E5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63640" y="3749039"/>
            <a:ext cx="5303520" cy="502920"/>
          </a:xfrm>
          <a:prstGeom prst="rect">
            <a:avLst/>
          </a:prstGeom>
          <a:noFill/>
        </p:spPr>
        <p:txBody>
          <a:bodyPr wrap="square" lIns="36000" rIns="36000" tIns="18000" bIns="18000" anchor="ctr">
            <a:spAutoFit/>
          </a:bodyPr>
          <a:lstStyle/>
          <a:p>
            <a:pPr algn="l"/>
            <a:r>
              <a:rPr sz="1200" b="1" i="0">
                <a:solidFill>
                  <a:srgbClr val="00E58A"/>
                </a:solidFill>
                <a:latin typeface="Calibri"/>
              </a:rPr>
              <a:t>SECURE Mod  →  check_object_ownership ile sahiplik doğrulanır</a:t>
            </a:r>
          </a:p>
        </p:txBody>
      </p:sp>
      <p:sp>
        <p:nvSpPr>
          <p:cNvPr id="49" name="TextBox 48"/>
          <p:cNvSpPr txBox="1"/>
          <p:nvPr/>
        </p:nvSpPr>
        <p:spPr>
          <a:xfrm>
            <a:off x="6126480" y="4434840"/>
            <a:ext cx="5486400" cy="365760"/>
          </a:xfrm>
          <a:prstGeom prst="rect">
            <a:avLst/>
          </a:prstGeom>
          <a:noFill/>
        </p:spPr>
        <p:txBody>
          <a:bodyPr wrap="square" lIns="36000" rIns="36000" tIns="18000" bIns="18000" anchor="t">
            <a:spAutoFit/>
          </a:bodyPr>
          <a:lstStyle/>
          <a:p>
            <a:pPr algn="l"/>
            <a:r>
              <a:rPr sz="1300" b="1" i="0">
                <a:solidFill>
                  <a:srgbClr val="00E5FF"/>
                </a:solidFill>
                <a:latin typeface="Calibri"/>
              </a:rPr>
              <a:t>Anahtar Kelimeler</a:t>
            </a:r>
          </a:p>
        </p:txBody>
      </p:sp>
      <p:sp>
        <p:nvSpPr>
          <p:cNvPr id="50" name="TextBox 49"/>
          <p:cNvSpPr txBox="1"/>
          <p:nvPr/>
        </p:nvSpPr>
        <p:spPr>
          <a:xfrm>
            <a:off x="6126480" y="4800600"/>
            <a:ext cx="5486400" cy="1371600"/>
          </a:xfrm>
          <a:prstGeom prst="rect">
            <a:avLst/>
          </a:prstGeom>
          <a:noFill/>
        </p:spPr>
        <p:txBody>
          <a:bodyPr wrap="square" lIns="36000" rIns="36000" tIns="18000" bIns="18000" anchor="t">
            <a:spAutoFit/>
          </a:bodyPr>
          <a:lstStyle/>
          <a:p>
            <a:pPr algn="l"/>
            <a:r>
              <a:rPr sz="1100" b="0" i="1">
                <a:solidFill>
                  <a:srgbClr val="E8ECF8"/>
                </a:solidFill>
                <a:latin typeface="Calibri"/>
              </a:rPr>
              <a:t>IDOR  ·  BOLA  ·  OWASP API Top 10  ·  Broken Access Control  ·  Flask  ·  Burp Suite  ·  Yetkilendirme  ·  SSDLC  ·  Güvenli Yazılım Geliştirme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02</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Giriş ve IDOR Zafiyeti Teorik Altyapısı</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OWASP A01:2021 Broken Access Control · API1:2023 BOLA</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idor_concept.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Aynı oturum çerezi ile gönderilen iki istek — ilki saldırganın kendi faturasına (1001) meşru erişim, ikincisi Mehmet'in faturasına (2001) yetkisiz erişim. Sunucu sahiplik kontrolü yapmadığı için ikisini de 200 OK ile döndürür.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IDOR Nedir?</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IDOR; sunucunun, isteğe konu kaynağın referansını kullanıcının yetkisi ile karşılaştırmadan döndürmesiyle ortaya çıkan bir yetkilendirme zafiyetidir. Kimlik doğrulama doğru çalışsa da nesne sahipliği kontrol edilmediği için saldırgan, başka bir kullanıcının verisine erişir.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Kaynak referansı  </a:t>
            </a:r>
            <a:r>
              <a:rPr sz="1200">
                <a:solidFill>
                  <a:srgbClr val="E8ECF8"/>
                </a:solidFill>
                <a:latin typeface="Calibri"/>
              </a:rPr>
              <a:t>URL yolu, sorgu parametresi, JSON gövdesi veya çerez.</a:t>
            </a:r>
          </a:p>
          <a:p>
            <a:pPr>
              <a:lnSpc>
                <a:spcPct val="115000"/>
              </a:lnSpc>
            </a:pPr>
            <a:r>
              <a:rPr sz="1200" b="1">
                <a:solidFill>
                  <a:srgbClr val="00E5FF"/>
                </a:solidFill>
                <a:latin typeface="Calibri"/>
              </a:rPr>
              <a:t>▸  </a:t>
            </a:r>
            <a:r>
              <a:rPr sz="1200" b="1">
                <a:solidFill>
                  <a:srgbClr val="FFFFFF"/>
                </a:solidFill>
                <a:latin typeface="Calibri"/>
              </a:rPr>
              <a:t>Authentication ≠ Authorization  </a:t>
            </a:r>
            <a:r>
              <a:rPr sz="1200">
                <a:solidFill>
                  <a:srgbClr val="E8ECF8"/>
                </a:solidFill>
                <a:latin typeface="Calibri"/>
              </a:rPr>
              <a:t>Sunucu 'kim?' sorusunu yanıtlar, ancak 'neye?' sorusunu sormaz.</a:t>
            </a:r>
          </a:p>
          <a:p>
            <a:pPr>
              <a:lnSpc>
                <a:spcPct val="115000"/>
              </a:lnSpc>
            </a:pPr>
            <a:r>
              <a:rPr sz="1200" b="1">
                <a:solidFill>
                  <a:srgbClr val="00E5FF"/>
                </a:solidFill>
                <a:latin typeface="Calibri"/>
              </a:rPr>
              <a:t>▸  </a:t>
            </a:r>
            <a:r>
              <a:rPr sz="1200" b="1">
                <a:solidFill>
                  <a:srgbClr val="FFFFFF"/>
                </a:solidFill>
                <a:latin typeface="Calibri"/>
              </a:rPr>
              <a:t>Security through obscurity  </a:t>
            </a:r>
            <a:r>
              <a:rPr sz="1200">
                <a:solidFill>
                  <a:srgbClr val="E8ECF8"/>
                </a:solidFill>
                <a:latin typeface="Calibri"/>
              </a:rPr>
              <a:t>ID'yi tahmin etmek zor sanmak modern güvenlikte reddedilen yanılgıdır.</a:t>
            </a:r>
          </a:p>
          <a:p>
            <a:pPr>
              <a:lnSpc>
                <a:spcPct val="115000"/>
              </a:lnSpc>
            </a:pPr>
            <a:r>
              <a:rPr sz="1200" b="1">
                <a:solidFill>
                  <a:srgbClr val="00E5FF"/>
                </a:solidFill>
                <a:latin typeface="Calibri"/>
              </a:rPr>
              <a:t>▸  </a:t>
            </a:r>
            <a:r>
              <a:rPr sz="1200" b="1">
                <a:solidFill>
                  <a:srgbClr val="FFFFFF"/>
                </a:solidFill>
                <a:latin typeface="Calibri"/>
              </a:rPr>
              <a:t>OWASP konumu  </a:t>
            </a:r>
            <a:r>
              <a:rPr sz="1200">
                <a:solidFill>
                  <a:srgbClr val="E8ECF8"/>
                </a:solidFill>
                <a:latin typeface="Calibri"/>
              </a:rPr>
              <a:t>A01:2021 Broken Access Control alt kümesi, API1:2023 BOLA olarak da bilinir.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03</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Yatay ve Dikey Yetki Yükseltme</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Erişim kontrolü ihlallerinin iki temel ekseni</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h_v_escalation.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Saldırgan Ahmet, aynı seviyedeki Mehmet'in verisine yatay yönde sızar (kırmızı ok); admin rolüne doğru dikey yükseliş ise sarı ok ile temsil edilir. Her eksen ayrı bir dekoratörle savunulur.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İki Eksen, İki Savunma Katmanı</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Erişim kontrolü ihlalleri yatay (aynı rol seviyesinde komşu verisine erişim) ve dikey (üst rol seviyesinin fonksiyonlarına erişim) eksenlerinde sınıflanır. Olgun bir uygulama her iki kontrolü bağımsız katmanlar olarak işletmek zorundadır.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YATAY (BOLA / IDOR)  </a:t>
            </a:r>
            <a:r>
              <a:rPr sz="1200">
                <a:solidFill>
                  <a:srgbClr val="E8ECF8"/>
                </a:solidFill>
                <a:latin typeface="Calibri"/>
              </a:rPr>
              <a:t>ahmet → mehmet'in 2001-2002 faturalarına erişir; aynı rol seviyesi.</a:t>
            </a:r>
          </a:p>
          <a:p>
            <a:pPr>
              <a:lnSpc>
                <a:spcPct val="115000"/>
              </a:lnSpc>
            </a:pPr>
            <a:r>
              <a:rPr sz="1200" b="1">
                <a:solidFill>
                  <a:srgbClr val="00E5FF"/>
                </a:solidFill>
                <a:latin typeface="Calibri"/>
              </a:rPr>
              <a:t>▸  </a:t>
            </a:r>
            <a:r>
              <a:rPr sz="1200" b="1">
                <a:solidFill>
                  <a:srgbClr val="FFFFFF"/>
                </a:solidFill>
                <a:latin typeface="Calibri"/>
              </a:rPr>
              <a:t>DİKEY (BFLA)  </a:t>
            </a:r>
            <a:r>
              <a:rPr sz="1200">
                <a:solidFill>
                  <a:srgbClr val="E8ECF8"/>
                </a:solidFill>
                <a:latin typeface="Calibri"/>
              </a:rPr>
              <a:t>Normal kullanıcı /admin/toggle-mode uç noktasına erişmeye çalışır.</a:t>
            </a:r>
          </a:p>
          <a:p>
            <a:pPr>
              <a:lnSpc>
                <a:spcPct val="115000"/>
              </a:lnSpc>
            </a:pPr>
            <a:r>
              <a:rPr sz="1200" b="1">
                <a:solidFill>
                  <a:srgbClr val="00E5FF"/>
                </a:solidFill>
                <a:latin typeface="Calibri"/>
              </a:rPr>
              <a:t>▸  </a:t>
            </a:r>
            <a:r>
              <a:rPr sz="1200" b="1">
                <a:solidFill>
                  <a:srgbClr val="FFFFFF"/>
                </a:solidFill>
                <a:latin typeface="Calibri"/>
              </a:rPr>
              <a:t>Nesne kontrolü  </a:t>
            </a:r>
            <a:r>
              <a:rPr sz="1200">
                <a:solidFill>
                  <a:srgbClr val="E8ECF8"/>
                </a:solidFill>
                <a:latin typeface="Calibri"/>
              </a:rPr>
              <a:t>owner_id == session.user_id → yatay sızıntıyı kapatır.</a:t>
            </a:r>
          </a:p>
          <a:p>
            <a:pPr>
              <a:lnSpc>
                <a:spcPct val="115000"/>
              </a:lnSpc>
            </a:pPr>
            <a:r>
              <a:rPr sz="1200" b="1">
                <a:solidFill>
                  <a:srgbClr val="00E5FF"/>
                </a:solidFill>
                <a:latin typeface="Calibri"/>
              </a:rPr>
              <a:t>▸  </a:t>
            </a:r>
            <a:r>
              <a:rPr sz="1200" b="1">
                <a:solidFill>
                  <a:srgbClr val="FFFFFF"/>
                </a:solidFill>
                <a:latin typeface="Calibri"/>
              </a:rPr>
              <a:t>Fonksiyon kontrolü  </a:t>
            </a:r>
            <a:r>
              <a:rPr sz="1200">
                <a:solidFill>
                  <a:srgbClr val="E8ECF8"/>
                </a:solidFill>
                <a:latin typeface="Calibri"/>
              </a:rPr>
              <a:t>@admin_required dekoratörü → dikey yükselmeyi kapatır.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04</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Kullanılan Teknolojiler ve Laboratuvar Ortamı</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Backend, güvenlik katmanı, saldırı araçları ve DevOps</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tech_stack.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Teknoloji bileşenleri rollerine göre dört kategoride renklendirilmiştir — Backend/API (turkuaz), Güvenlik (yeşil), Saldırı/Test (kırmızı), DevOps/Kalite (sarı).</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Yığın ve İzolasyon</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Sunucu Python 3.10+ ve Flask 3.0 üzerine kurulu; parolalar Werkzeug PBKDF2 ile özetlenir, oturum imzalı çerezle taşınır. Saldırı tarafında Burp Suite CE proxy/Repeater ve Python requests betikleri kullanılmıştır.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İzolasyon  </a:t>
            </a:r>
            <a:r>
              <a:rPr sz="1200">
                <a:solidFill>
                  <a:srgbClr val="E8ECF8"/>
                </a:solidFill>
                <a:latin typeface="Calibri"/>
              </a:rPr>
              <a:t>Tüm testler localhost:5000 üzerinde, Docker konteynerinde.</a:t>
            </a:r>
          </a:p>
          <a:p>
            <a:pPr>
              <a:lnSpc>
                <a:spcPct val="115000"/>
              </a:lnSpc>
            </a:pPr>
            <a:r>
              <a:rPr sz="1200" b="1">
                <a:solidFill>
                  <a:srgbClr val="00E5FF"/>
                </a:solidFill>
                <a:latin typeface="Calibri"/>
              </a:rPr>
              <a:t>▸  </a:t>
            </a:r>
            <a:r>
              <a:rPr sz="1200" b="1">
                <a:solidFill>
                  <a:srgbClr val="FFFFFF"/>
                </a:solidFill>
                <a:latin typeface="Calibri"/>
              </a:rPr>
              <a:t>Veritabanı (demo)  </a:t>
            </a:r>
            <a:r>
              <a:rPr sz="1200">
                <a:solidFill>
                  <a:srgbClr val="E8ECF8"/>
                </a:solidFill>
                <a:latin typeface="Calibri"/>
              </a:rPr>
              <a:t>Bellek içi USERS / INVOICES sözlükleri — ardışık ID stratejisi.</a:t>
            </a:r>
          </a:p>
          <a:p>
            <a:pPr>
              <a:lnSpc>
                <a:spcPct val="115000"/>
              </a:lnSpc>
            </a:pPr>
            <a:r>
              <a:rPr sz="1200" b="1">
                <a:solidFill>
                  <a:srgbClr val="00E5FF"/>
                </a:solidFill>
                <a:latin typeface="Calibri"/>
              </a:rPr>
              <a:t>▸  </a:t>
            </a:r>
            <a:r>
              <a:rPr sz="1200" b="1">
                <a:solidFill>
                  <a:srgbClr val="FFFFFF"/>
                </a:solidFill>
                <a:latin typeface="Calibri"/>
              </a:rPr>
              <a:t>Yetkilendirme dekoratörleri  </a:t>
            </a:r>
            <a:r>
              <a:rPr sz="1200">
                <a:solidFill>
                  <a:srgbClr val="E8ECF8"/>
                </a:solidFill>
                <a:latin typeface="Calibri"/>
              </a:rPr>
              <a:t>login_required, admin_required, owner_required.</a:t>
            </a:r>
          </a:p>
          <a:p>
            <a:pPr>
              <a:lnSpc>
                <a:spcPct val="115000"/>
              </a:lnSpc>
            </a:pPr>
            <a:r>
              <a:rPr sz="1200" b="1">
                <a:solidFill>
                  <a:srgbClr val="00E5FF"/>
                </a:solidFill>
                <a:latin typeface="Calibri"/>
              </a:rPr>
              <a:t>▸  </a:t>
            </a:r>
            <a:r>
              <a:rPr sz="1200" b="1">
                <a:solidFill>
                  <a:srgbClr val="FFFFFF"/>
                </a:solidFill>
                <a:latin typeface="Calibri"/>
              </a:rPr>
              <a:t>Test  </a:t>
            </a:r>
            <a:r>
              <a:rPr sz="1200">
                <a:solidFill>
                  <a:srgbClr val="E8ECF8"/>
                </a:solidFill>
                <a:latin typeface="Calibri"/>
              </a:rPr>
              <a:t>31 birim testi (unittest) — VULN ve SECURE modlar otomatik doğrulanır.</a:t>
            </a:r>
          </a:p>
          <a:p>
            <a:pPr>
              <a:lnSpc>
                <a:spcPct val="115000"/>
              </a:lnSpc>
            </a:pPr>
            <a:r>
              <a:rPr sz="1200" b="1">
                <a:solidFill>
                  <a:srgbClr val="00E5FF"/>
                </a:solidFill>
                <a:latin typeface="Calibri"/>
              </a:rPr>
              <a:t>▸  </a:t>
            </a:r>
            <a:r>
              <a:rPr sz="1200" b="1">
                <a:solidFill>
                  <a:srgbClr val="FFFFFF"/>
                </a:solidFill>
                <a:latin typeface="Calibri"/>
              </a:rPr>
              <a:t>Etik uyum  </a:t>
            </a:r>
            <a:r>
              <a:rPr sz="1200">
                <a:solidFill>
                  <a:srgbClr val="E8ECF8"/>
                </a:solidFill>
                <a:latin typeface="Calibri"/>
              </a:rPr>
              <a:t>Test kullanıcıları yapaydır; KVKK ve etik araştırma ilkelerine uyumludur.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05</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Uygulama Mimarisi ve Senaryo Tasarımı</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Dijital fatura yönetim sistemi simülasyonu — Saldırı kurgusu</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4_arch_flow.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Tarayıcı → Burp Proxy (127.0.0.1:8080) → Flask (localhost:5000) → INVOICES sözlüğü zinciri. Beş adımlık saldırı akışı renk kodlamasıyla gösterilmiştir.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İş Mantığı ve Aktörler</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Sistem üç aktöre hizmet verir: ahmet (saldırgan, user_id=1), mehmet (kurban, user_id=2) ve admin. INVOICES sözlüğünde ardışık ID'ler (1001, 1002, 2001, 2002) IDOR için ideal hedef oluşturur.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Adım 1  </a:t>
            </a:r>
            <a:r>
              <a:rPr sz="1200">
                <a:solidFill>
                  <a:srgbClr val="E8ECF8"/>
                </a:solidFill>
                <a:latin typeface="Calibri"/>
              </a:rPr>
              <a:t>POST /login (ahmet/ahmet123) → 200 OK + session çerezi.</a:t>
            </a:r>
          </a:p>
          <a:p>
            <a:pPr>
              <a:lnSpc>
                <a:spcPct val="115000"/>
              </a:lnSpc>
            </a:pPr>
            <a:r>
              <a:rPr sz="1200" b="1">
                <a:solidFill>
                  <a:srgbClr val="00E5FF"/>
                </a:solidFill>
                <a:latin typeface="Calibri"/>
              </a:rPr>
              <a:t>▸  </a:t>
            </a:r>
            <a:r>
              <a:rPr sz="1200" b="1">
                <a:solidFill>
                  <a:srgbClr val="FFFFFF"/>
                </a:solidFill>
                <a:latin typeface="Calibri"/>
              </a:rPr>
              <a:t>Adım 2  </a:t>
            </a:r>
            <a:r>
              <a:rPr sz="1200">
                <a:solidFill>
                  <a:srgbClr val="E8ECF8"/>
                </a:solidFill>
                <a:latin typeface="Calibri"/>
              </a:rPr>
              <a:t>GET /api/invoice/1001 → kendi 2.500 TL faturası (meşru).</a:t>
            </a:r>
          </a:p>
          <a:p>
            <a:pPr>
              <a:lnSpc>
                <a:spcPct val="115000"/>
              </a:lnSpc>
            </a:pPr>
            <a:r>
              <a:rPr sz="1200" b="1">
                <a:solidFill>
                  <a:srgbClr val="00E5FF"/>
                </a:solidFill>
                <a:latin typeface="Calibri"/>
              </a:rPr>
              <a:t>▸  </a:t>
            </a:r>
            <a:r>
              <a:rPr sz="1200" b="1">
                <a:solidFill>
                  <a:srgbClr val="FFFFFF"/>
                </a:solidFill>
                <a:latin typeface="Calibri"/>
              </a:rPr>
              <a:t>Adım 3  </a:t>
            </a:r>
            <a:r>
              <a:rPr sz="1200">
                <a:solidFill>
                  <a:srgbClr val="E8ECF8"/>
                </a:solidFill>
                <a:latin typeface="Calibri"/>
              </a:rPr>
              <a:t>Burp Repeater'da URL 1001 → 2001 olarak manipüle edilir.</a:t>
            </a:r>
          </a:p>
          <a:p>
            <a:pPr>
              <a:lnSpc>
                <a:spcPct val="115000"/>
              </a:lnSpc>
            </a:pPr>
            <a:r>
              <a:rPr sz="1200" b="1">
                <a:solidFill>
                  <a:srgbClr val="00E5FF"/>
                </a:solidFill>
                <a:latin typeface="Calibri"/>
              </a:rPr>
              <a:t>▸  </a:t>
            </a:r>
            <a:r>
              <a:rPr sz="1200" b="1">
                <a:solidFill>
                  <a:srgbClr val="FFFFFF"/>
                </a:solidFill>
                <a:latin typeface="Calibri"/>
              </a:rPr>
              <a:t>Adım 4  </a:t>
            </a:r>
            <a:r>
              <a:rPr sz="1200">
                <a:solidFill>
                  <a:srgbClr val="E8ECF8"/>
                </a:solidFill>
                <a:latin typeface="Calibri"/>
              </a:rPr>
              <a:t>200 OK ile Mehmet'in 9.750 TL faturası iade edilir.</a:t>
            </a:r>
          </a:p>
          <a:p>
            <a:pPr>
              <a:lnSpc>
                <a:spcPct val="115000"/>
              </a:lnSpc>
            </a:pPr>
            <a:r>
              <a:rPr sz="1200" b="1">
                <a:solidFill>
                  <a:srgbClr val="00E5FF"/>
                </a:solidFill>
                <a:latin typeface="Calibri"/>
              </a:rPr>
              <a:t>▸  </a:t>
            </a:r>
            <a:r>
              <a:rPr sz="1200" b="1">
                <a:solidFill>
                  <a:srgbClr val="FFFFFF"/>
                </a:solidFill>
                <a:latin typeface="Calibri"/>
              </a:rPr>
              <a:t>Adım 5  </a:t>
            </a:r>
            <a:r>
              <a:rPr sz="1200">
                <a:solidFill>
                  <a:srgbClr val="E8ECF8"/>
                </a:solidFill>
                <a:latin typeface="Calibri"/>
              </a:rPr>
              <a:t>exploit_demo.py 1000–3000 aralığını tarar → toplu sızıntı.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06</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Zafiyetin Tespiti (Discovery Phase)</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Pasif keşif (DevTools) + Aktif keşif (Burp Suite Proxy)</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5_burp_discovery.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Solda Chromium DevTools Network sekmesi (invoice/1001 isteği sarı vurgulu); sağda Burp Suite Proxy intercept ekranında yakalanan ham HTTP isteği — Cookie ve URL referansı işaretlenmiştir.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Trafik Gözleminden Hipoteze</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Saldırgan önce tarayıcıda F12 ile Network sekmesini açar ve GET /api/invoice/1001 isteğindeki sayısal ID'yi fark eder. Ardından Burp Suite Proxy ile aynı isteği 127.0.0.1:8080 üzerinden yakalayarak başlık ve çerez yapısını teknik olarak analiz eder.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Sinyal 1  </a:t>
            </a:r>
            <a:r>
              <a:rPr sz="1200">
                <a:solidFill>
                  <a:srgbClr val="E8ECF8"/>
                </a:solidFill>
                <a:latin typeface="Calibri"/>
              </a:rPr>
              <a:t>URL'de açık sayısal ID → kullanıcı manipüle edebilir.</a:t>
            </a:r>
          </a:p>
          <a:p>
            <a:pPr>
              <a:lnSpc>
                <a:spcPct val="115000"/>
              </a:lnSpc>
            </a:pPr>
            <a:r>
              <a:rPr sz="1200" b="1">
                <a:solidFill>
                  <a:srgbClr val="00E5FF"/>
                </a:solidFill>
                <a:latin typeface="Calibri"/>
              </a:rPr>
              <a:t>▸  </a:t>
            </a:r>
            <a:r>
              <a:rPr sz="1200" b="1">
                <a:solidFill>
                  <a:srgbClr val="FFFFFF"/>
                </a:solidFill>
                <a:latin typeface="Calibri"/>
              </a:rPr>
              <a:t>Sinyal 2  </a:t>
            </a:r>
            <a:r>
              <a:rPr sz="1200">
                <a:solidFill>
                  <a:srgbClr val="E8ECF8"/>
                </a:solidFill>
                <a:latin typeface="Calibri"/>
              </a:rPr>
              <a:t>Yetki yalnızca session çerezine indirgenmiş.</a:t>
            </a:r>
          </a:p>
          <a:p>
            <a:pPr>
              <a:lnSpc>
                <a:spcPct val="115000"/>
              </a:lnSpc>
            </a:pPr>
            <a:r>
              <a:rPr sz="1200" b="1">
                <a:solidFill>
                  <a:srgbClr val="00E5FF"/>
                </a:solidFill>
                <a:latin typeface="Calibri"/>
              </a:rPr>
              <a:t>▸  </a:t>
            </a:r>
            <a:r>
              <a:rPr sz="1200" b="1">
                <a:solidFill>
                  <a:srgbClr val="FFFFFF"/>
                </a:solidFill>
                <a:latin typeface="Calibri"/>
              </a:rPr>
              <a:t>Sinyal 3  </a:t>
            </a:r>
            <a:r>
              <a:rPr sz="1200">
                <a:solidFill>
                  <a:srgbClr val="E8ECF8"/>
                </a:solidFill>
                <a:latin typeface="Calibri"/>
              </a:rPr>
              <a:t>Authorization header yok → nesne kontrolü beklenmiyor.</a:t>
            </a:r>
          </a:p>
          <a:p>
            <a:pPr>
              <a:lnSpc>
                <a:spcPct val="115000"/>
              </a:lnSpc>
            </a:pPr>
            <a:r>
              <a:rPr sz="1200" b="1">
                <a:solidFill>
                  <a:srgbClr val="00E5FF"/>
                </a:solidFill>
                <a:latin typeface="Calibri"/>
              </a:rPr>
              <a:t>▸  </a:t>
            </a:r>
            <a:r>
              <a:rPr sz="1200" b="1">
                <a:solidFill>
                  <a:srgbClr val="FFFFFF"/>
                </a:solidFill>
                <a:latin typeface="Calibri"/>
              </a:rPr>
              <a:t>Hipotez  </a:t>
            </a:r>
            <a:r>
              <a:rPr sz="1200">
                <a:solidFill>
                  <a:srgbClr val="E8ECF8"/>
                </a:solidFill>
                <a:latin typeface="Calibri"/>
              </a:rPr>
              <a:t>ID değişimi başka kullanıcının verisini açar — DOĞRULA.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07</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Zafiyetin Sömürülmesi (Exploitation Phase)</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Burp Suite Repeater ile manuel ve Intruder ile otomatik sömürü</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_burp_exploit.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Burp Suite Repeater — solda manipüle edilmiş GET /api/invoice/2001 isteği (kırmızı vurgu); sağda 200 OK durumuyla dönen JSON cevabında "owner": "Mehmet Kaya" ve ₺9.750 tutar açıkça görülmektedir.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Tek Tuşla Yetkisiz Veri</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Yakalanan istek Ctrl+R ile Repeater'a aktarılır; URL'deki 1001 değeri 2001 ile değiştirilir ve Send butonuna basılır. Sunucu, oturum bozulmadığı için 200 OK ile Mehmet'e ait ₺9.750'lik faturayı iade eder — sömürü tamamlanmıştır.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Manuel sömürü  </a:t>
            </a:r>
            <a:r>
              <a:rPr sz="1200">
                <a:solidFill>
                  <a:srgbClr val="E8ECF8"/>
                </a:solidFill>
                <a:latin typeface="Calibri"/>
              </a:rPr>
              <a:t>Repeater'da tek tuşla 2001 / 2002 dökümü alınır.</a:t>
            </a:r>
          </a:p>
          <a:p>
            <a:pPr>
              <a:lnSpc>
                <a:spcPct val="115000"/>
              </a:lnSpc>
            </a:pPr>
            <a:r>
              <a:rPr sz="1200" b="1">
                <a:solidFill>
                  <a:srgbClr val="00E5FF"/>
                </a:solidFill>
                <a:latin typeface="Calibri"/>
              </a:rPr>
              <a:t>▸  </a:t>
            </a:r>
            <a:r>
              <a:rPr sz="1200" b="1">
                <a:solidFill>
                  <a:srgbClr val="FFFFFF"/>
                </a:solidFill>
                <a:latin typeface="Calibri"/>
              </a:rPr>
              <a:t>Otomatik sömürü  </a:t>
            </a:r>
            <a:r>
              <a:rPr sz="1200">
                <a:solidFill>
                  <a:srgbClr val="E8ECF8"/>
                </a:solidFill>
                <a:latin typeface="Calibri"/>
              </a:rPr>
              <a:t>Intruder + Numbers payload: 1000–3000 sistematik tarama.</a:t>
            </a:r>
          </a:p>
          <a:p>
            <a:pPr>
              <a:lnSpc>
                <a:spcPct val="115000"/>
              </a:lnSpc>
            </a:pPr>
            <a:r>
              <a:rPr sz="1200" b="1">
                <a:solidFill>
                  <a:srgbClr val="00E5FF"/>
                </a:solidFill>
                <a:latin typeface="Calibri"/>
              </a:rPr>
              <a:t>▸  </a:t>
            </a:r>
            <a:r>
              <a:rPr sz="1200" b="1">
                <a:solidFill>
                  <a:srgbClr val="FFFFFF"/>
                </a:solidFill>
                <a:latin typeface="Calibri"/>
              </a:rPr>
              <a:t>exploit_demo.py  </a:t>
            </a:r>
            <a:r>
              <a:rPr sz="1200">
                <a:solidFill>
                  <a:srgbClr val="E8ECF8"/>
                </a:solidFill>
                <a:latin typeface="Calibri"/>
              </a:rPr>
              <a:t>requests.Session ile saniyeler içinde tüm DB dökülür.</a:t>
            </a:r>
          </a:p>
          <a:p>
            <a:pPr>
              <a:lnSpc>
                <a:spcPct val="115000"/>
              </a:lnSpc>
            </a:pPr>
            <a:r>
              <a:rPr sz="1200" b="1">
                <a:solidFill>
                  <a:srgbClr val="00E5FF"/>
                </a:solidFill>
                <a:latin typeface="Calibri"/>
              </a:rPr>
              <a:t>▸  </a:t>
            </a:r>
            <a:r>
              <a:rPr sz="1200" b="1">
                <a:solidFill>
                  <a:srgbClr val="FFFFFF"/>
                </a:solidFill>
                <a:latin typeface="Calibri"/>
              </a:rPr>
              <a:t>Yan kanal yokluğu  </a:t>
            </a:r>
            <a:r>
              <a:rPr sz="1200">
                <a:solidFill>
                  <a:srgbClr val="E8ECF8"/>
                </a:solidFill>
                <a:latin typeface="Calibri"/>
              </a:rPr>
              <a:t>Saldırı, meşru cevaplarla aynı şekle sahip — fark edilmez.</a:t>
            </a:r>
          </a:p>
          <a:p>
            <a:pPr>
              <a:lnSpc>
                <a:spcPct val="115000"/>
              </a:lnSpc>
            </a:pPr>
            <a:r>
              <a:rPr sz="1200" b="1">
                <a:solidFill>
                  <a:srgbClr val="00E5FF"/>
                </a:solidFill>
                <a:latin typeface="Calibri"/>
              </a:rPr>
              <a:t>▸  </a:t>
            </a:r>
            <a:r>
              <a:rPr sz="1200" b="1">
                <a:solidFill>
                  <a:srgbClr val="FFFFFF"/>
                </a:solidFill>
                <a:latin typeface="Calibri"/>
              </a:rPr>
              <a:t>Sunucu logu  </a:t>
            </a:r>
            <a:r>
              <a:rPr sz="1200">
                <a:solidFill>
                  <a:srgbClr val="E8ECF8"/>
                </a:solidFill>
                <a:latin typeface="Calibri"/>
              </a:rPr>
              <a:t>VULN modda STATS['successful_exploits'] sayacı sessizce artar.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08</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Etki Analizi ve Risk Değerlendirmesi</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Sızdırılan veri sınıfı · KVKK/GDPR yansımaları · CVSS v3.1</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7_cvss.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Yarım daire CVSS göstergesi — ibre 7.7 (Yüksek) bölgesine işaret etmektedir. Sağda CVSS vektörü ve yedi alt metriğin değeri renk kodlamasıyla listelenmiştir.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Yüksek Kritiklik (CVSS 7.7)</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Sızdırılan beş alan (ad-soyad, hizmet, tutar, tarih, ödeme durumu) finansal/kişisel veri sınıfındadır. CVSS v3.1 Temel Skoru 6.5 (Orta) iken, Confidentiality Requirement High çevresel ağırlığı uygulandığında skor 7.7 — Yüksek seviyeye çıkar.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Yasal etki  </a:t>
            </a:r>
            <a:r>
              <a:rPr sz="1200">
                <a:solidFill>
                  <a:srgbClr val="E8ECF8"/>
                </a:solidFill>
                <a:latin typeface="Calibri"/>
              </a:rPr>
              <a:t>KVKK md. 12 &amp; 18 ihlali — milyon TL idari para cezası riski.</a:t>
            </a:r>
          </a:p>
          <a:p>
            <a:pPr>
              <a:lnSpc>
                <a:spcPct val="115000"/>
              </a:lnSpc>
            </a:pPr>
            <a:r>
              <a:rPr sz="1200" b="1">
                <a:solidFill>
                  <a:srgbClr val="00E5FF"/>
                </a:solidFill>
                <a:latin typeface="Calibri"/>
              </a:rPr>
              <a:t>▸  </a:t>
            </a:r>
            <a:r>
              <a:rPr sz="1200" b="1">
                <a:solidFill>
                  <a:srgbClr val="FFFFFF"/>
                </a:solidFill>
                <a:latin typeface="Calibri"/>
              </a:rPr>
              <a:t>AB müşterileri  </a:t>
            </a:r>
            <a:r>
              <a:rPr sz="1200">
                <a:solidFill>
                  <a:srgbClr val="E8ECF8"/>
                </a:solidFill>
                <a:latin typeface="Calibri"/>
              </a:rPr>
              <a:t>GDPR md. 32-33 — küresel cironun %4'üne varan yaptırım.</a:t>
            </a:r>
          </a:p>
          <a:p>
            <a:pPr>
              <a:lnSpc>
                <a:spcPct val="115000"/>
              </a:lnSpc>
            </a:pPr>
            <a:r>
              <a:rPr sz="1200" b="1">
                <a:solidFill>
                  <a:srgbClr val="00E5FF"/>
                </a:solidFill>
                <a:latin typeface="Calibri"/>
              </a:rPr>
              <a:t>▸  </a:t>
            </a:r>
            <a:r>
              <a:rPr sz="1200" b="1">
                <a:solidFill>
                  <a:srgbClr val="FFFFFF"/>
                </a:solidFill>
                <a:latin typeface="Calibri"/>
              </a:rPr>
              <a:t>Operasyonel etki  </a:t>
            </a:r>
            <a:r>
              <a:rPr sz="1200">
                <a:solidFill>
                  <a:srgbClr val="E8ECF8"/>
                </a:solidFill>
                <a:latin typeface="Calibri"/>
              </a:rPr>
              <a:t>Müşteri güveni kaybı, hukuki süreçler, sözleşme feshi.</a:t>
            </a:r>
          </a:p>
          <a:p>
            <a:pPr>
              <a:lnSpc>
                <a:spcPct val="115000"/>
              </a:lnSpc>
            </a:pPr>
            <a:r>
              <a:rPr sz="1200" b="1">
                <a:solidFill>
                  <a:srgbClr val="00E5FF"/>
                </a:solidFill>
                <a:latin typeface="Calibri"/>
              </a:rPr>
              <a:t>▸  </a:t>
            </a:r>
            <a:r>
              <a:rPr sz="1200" b="1">
                <a:solidFill>
                  <a:srgbClr val="FFFFFF"/>
                </a:solidFill>
                <a:latin typeface="Calibri"/>
              </a:rPr>
              <a:t>Vektör  </a:t>
            </a:r>
            <a:r>
              <a:rPr sz="1200">
                <a:solidFill>
                  <a:srgbClr val="E8ECF8"/>
                </a:solidFill>
                <a:latin typeface="Calibri"/>
              </a:rPr>
              <a:t>AV:N / AC:L / PR:L / UI:N / S:U / C:H / I:N / A:N</a:t>
            </a:r>
          </a:p>
          <a:p>
            <a:pPr>
              <a:lnSpc>
                <a:spcPct val="115000"/>
              </a:lnSpc>
            </a:pPr>
            <a:r>
              <a:rPr sz="1200" b="1">
                <a:solidFill>
                  <a:srgbClr val="00E5FF"/>
                </a:solidFill>
                <a:latin typeface="Calibri"/>
              </a:rPr>
              <a:t>▸  </a:t>
            </a:r>
            <a:r>
              <a:rPr sz="1200" b="1">
                <a:solidFill>
                  <a:srgbClr val="FFFFFF"/>
                </a:solidFill>
                <a:latin typeface="Calibri"/>
              </a:rPr>
              <a:t>Sektör fiyatı  </a:t>
            </a:r>
            <a:r>
              <a:rPr sz="1200">
                <a:solidFill>
                  <a:srgbClr val="E8ECF8"/>
                </a:solidFill>
                <a:latin typeface="Calibri"/>
              </a:rPr>
              <a:t>Bug Bounty ortalaması: 3.000 – 10.000 USD ödül aralığı.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09</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Çözüm ve Güvenlik Önerileri (Remediation)</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Nesne seviyesi sahiplik kontrolü + savunma derinliği</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secure_code.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Solda zafiyetli kod (yalnızca @login_required, sahiplik kontrolü yok); sağda güvenli kod — sahiplik doğrulanır, yetkisiz girişim loglanır, 404 ile bilgi sızıntısı engellenir.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Tek Geçerli Çözüm: Sahiplik</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IDOR'un kalıcı çözümü, her erişimde check_object_ownership(invoice, current_user_id) fonksiyonu ile owner_id == session['user_id'] eşitliğini doğrulamaktır. Bu kontrol merkezî bir noktada tanımlanır ve @owner_required dekoratörüyle deklaratif biçimde uygulanır.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Sahiplik  </a:t>
            </a:r>
            <a:r>
              <a:rPr sz="1200">
                <a:solidFill>
                  <a:srgbClr val="E8ECF8"/>
                </a:solidFill>
                <a:latin typeface="Calibri"/>
              </a:rPr>
              <a:t>check_object_ownership — tek nokta, tüm endpoint'ler korunur.</a:t>
            </a:r>
          </a:p>
          <a:p>
            <a:pPr>
              <a:lnSpc>
                <a:spcPct val="115000"/>
              </a:lnSpc>
            </a:pPr>
            <a:r>
              <a:rPr sz="1200" b="1">
                <a:solidFill>
                  <a:srgbClr val="00E5FF"/>
                </a:solidFill>
                <a:latin typeface="Calibri"/>
              </a:rPr>
              <a:t>▸  </a:t>
            </a:r>
            <a:r>
              <a:rPr sz="1200" b="1">
                <a:solidFill>
                  <a:srgbClr val="FFFFFF"/>
                </a:solidFill>
                <a:latin typeface="Calibri"/>
              </a:rPr>
              <a:t>Loglama  </a:t>
            </a:r>
            <a:r>
              <a:rPr sz="1200">
                <a:solidFill>
                  <a:srgbClr val="E8ECF8"/>
                </a:solidFill>
                <a:latin typeface="Calibri"/>
              </a:rPr>
              <a:t>log_unauthorized_access → SIEM/Splunk/ELK için zaman damgalı kayıt.</a:t>
            </a:r>
          </a:p>
          <a:p>
            <a:pPr>
              <a:lnSpc>
                <a:spcPct val="115000"/>
              </a:lnSpc>
            </a:pPr>
            <a:r>
              <a:rPr sz="1200" b="1">
                <a:solidFill>
                  <a:srgbClr val="00E5FF"/>
                </a:solidFill>
                <a:latin typeface="Calibri"/>
              </a:rPr>
              <a:t>▸  </a:t>
            </a:r>
            <a:r>
              <a:rPr sz="1200" b="1">
                <a:solidFill>
                  <a:srgbClr val="FFFFFF"/>
                </a:solidFill>
                <a:latin typeface="Calibri"/>
              </a:rPr>
              <a:t>Enumeration engeli  </a:t>
            </a:r>
            <a:r>
              <a:rPr sz="1200">
                <a:solidFill>
                  <a:srgbClr val="E8ECF8"/>
                </a:solidFill>
                <a:latin typeface="Calibri"/>
              </a:rPr>
              <a:t>Yetkisiz erişimde 403 yerine 404 — ID varlığı sızdırılmaz.</a:t>
            </a:r>
          </a:p>
          <a:p>
            <a:pPr>
              <a:lnSpc>
                <a:spcPct val="115000"/>
              </a:lnSpc>
            </a:pPr>
            <a:r>
              <a:rPr sz="1200" b="1">
                <a:solidFill>
                  <a:srgbClr val="00E5FF"/>
                </a:solidFill>
                <a:latin typeface="Calibri"/>
              </a:rPr>
              <a:t>▸  </a:t>
            </a:r>
            <a:r>
              <a:rPr sz="1200" b="1">
                <a:solidFill>
                  <a:srgbClr val="FFFFFF"/>
                </a:solidFill>
                <a:latin typeface="Calibri"/>
              </a:rPr>
              <a:t>Savunma derinliği  </a:t>
            </a:r>
            <a:r>
              <a:rPr sz="1200">
                <a:solidFill>
                  <a:srgbClr val="E8ECF8"/>
                </a:solidFill>
                <a:latin typeface="Calibri"/>
              </a:rPr>
              <a:t>UUID, rate-limit, PBKDF2, HttpOnly+SameSite, CSP, X-Frame-Options.</a:t>
            </a:r>
          </a:p>
          <a:p>
            <a:pPr>
              <a:lnSpc>
                <a:spcPct val="115000"/>
              </a:lnSpc>
            </a:pPr>
            <a:r>
              <a:rPr sz="1200" b="1">
                <a:solidFill>
                  <a:srgbClr val="00E5FF"/>
                </a:solidFill>
                <a:latin typeface="Calibri"/>
              </a:rPr>
              <a:t>▸  </a:t>
            </a:r>
            <a:r>
              <a:rPr sz="1200" b="1">
                <a:solidFill>
                  <a:srgbClr val="FFFFFF"/>
                </a:solidFill>
                <a:latin typeface="Calibri"/>
              </a:rPr>
              <a:t>BFLA koruması  </a:t>
            </a:r>
            <a:r>
              <a:rPr sz="1200">
                <a:solidFill>
                  <a:srgbClr val="E8ECF8"/>
                </a:solidFill>
                <a:latin typeface="Calibri"/>
              </a:rPr>
              <a:t>@admin_required ile durum değiştiren uçlar ayrıca kapatılır.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960120" cy="411480"/>
          </a:xfrm>
          <a:prstGeom prst="roundRect">
            <a:avLst>
              <a:gd name="adj" fmla="val 50000"/>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960120" cy="411480"/>
          </a:xfrm>
          <a:prstGeom prst="rect">
            <a:avLst/>
          </a:prstGeom>
          <a:noFill/>
        </p:spPr>
        <p:txBody>
          <a:bodyPr wrap="square" lIns="36000" rIns="36000" tIns="18000" bIns="18000" anchor="ctr">
            <a:spAutoFit/>
          </a:bodyPr>
          <a:lstStyle/>
          <a:p>
            <a:pPr algn="ctr"/>
            <a:r>
              <a:rPr sz="1300" b="1" i="0">
                <a:solidFill>
                  <a:srgbClr val="0B1020"/>
                </a:solidFill>
                <a:latin typeface="Calibri"/>
              </a:rPr>
              <a:t>SAYFA 10</a:t>
            </a:r>
          </a:p>
        </p:txBody>
      </p:sp>
      <p:sp>
        <p:nvSpPr>
          <p:cNvPr id="6" name="TextBox 5"/>
          <p:cNvSpPr txBox="1"/>
          <p:nvPr/>
        </p:nvSpPr>
        <p:spPr>
          <a:xfrm>
            <a:off x="15544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Sonuç — Authentication ≠ Authorization</a:t>
            </a:r>
          </a:p>
        </p:txBody>
      </p:sp>
      <p:sp>
        <p:nvSpPr>
          <p:cNvPr id="7" name="TextBox 6"/>
          <p:cNvSpPr txBox="1"/>
          <p:nvPr/>
        </p:nvSpPr>
        <p:spPr>
          <a:xfrm>
            <a:off x="15544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SSDLC: tasarım anından üretim sonrasına güvenlik</a:t>
            </a:r>
          </a:p>
        </p:txBody>
      </p:sp>
      <p:sp>
        <p:nvSpPr>
          <p:cNvPr id="8" name="TextBox 7"/>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9" name="TextBox 8"/>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
        <p:nvSpPr>
          <p:cNvPr id="10" name="Rounded Rectangle 9"/>
          <p:cNvSpPr/>
          <p:nvPr/>
        </p:nvSpPr>
        <p:spPr>
          <a:xfrm>
            <a:off x="411480" y="1188720"/>
            <a:ext cx="5669280" cy="5029200"/>
          </a:xfrm>
          <a:prstGeom prst="roundRect">
            <a:avLst>
              <a:gd name="adj" fmla="val 8000"/>
            </a:avLst>
          </a:prstGeom>
          <a:solidFill>
            <a:srgbClr val="121933"/>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ssdlc.png"/>
          <p:cNvPicPr>
            <a:picLocks noChangeAspect="1"/>
          </p:cNvPicPr>
          <p:nvPr/>
        </p:nvPicPr>
        <p:blipFill>
          <a:blip r:embed="rId2"/>
          <a:stretch>
            <a:fillRect/>
          </a:stretch>
        </p:blipFill>
        <p:spPr>
          <a:xfrm>
            <a:off x="502920" y="1280160"/>
            <a:ext cx="5486400" cy="2971800"/>
          </a:xfrm>
          <a:prstGeom prst="rect">
            <a:avLst/>
          </a:prstGeom>
        </p:spPr>
      </p:pic>
      <p:sp>
        <p:nvSpPr>
          <p:cNvPr id="12" name="TextBox 11"/>
          <p:cNvSpPr txBox="1"/>
          <p:nvPr/>
        </p:nvSpPr>
        <p:spPr>
          <a:xfrm>
            <a:off x="594360" y="4343400"/>
            <a:ext cx="5303520" cy="1828800"/>
          </a:xfrm>
          <a:prstGeom prst="rect">
            <a:avLst/>
          </a:prstGeom>
          <a:noFill/>
        </p:spPr>
        <p:txBody>
          <a:bodyPr wrap="square" lIns="36000" rIns="36000" tIns="18000" bIns="18000" anchor="t">
            <a:spAutoFit/>
          </a:bodyPr>
          <a:lstStyle/>
          <a:p>
            <a:pPr algn="l"/>
            <a:r>
              <a:rPr sz="1100" b="0" i="1">
                <a:solidFill>
                  <a:srgbClr val="8896B5"/>
                </a:solidFill>
                <a:latin typeface="Calibri"/>
              </a:rPr>
              <a:t>Görsel: Altı aşamalı SSDLC döngüsü — gereksinim, tasarım, kodlama, test, dağıtım ve izleme. Merkezdeki ilke 'Authentication ≠ Authorization' tüm aşamalarda gözetilmesi gereken kuralı temsil eder.</a:t>
            </a:r>
          </a:p>
        </p:txBody>
      </p:sp>
      <p:sp>
        <p:nvSpPr>
          <p:cNvPr id="13" name="TextBox 12"/>
          <p:cNvSpPr txBox="1"/>
          <p:nvPr/>
        </p:nvSpPr>
        <p:spPr>
          <a:xfrm>
            <a:off x="6446520" y="1188720"/>
            <a:ext cx="5486400" cy="457200"/>
          </a:xfrm>
          <a:prstGeom prst="rect">
            <a:avLst/>
          </a:prstGeom>
          <a:noFill/>
        </p:spPr>
        <p:txBody>
          <a:bodyPr wrap="square" lIns="36000" rIns="36000" tIns="18000" bIns="18000" anchor="t">
            <a:spAutoFit/>
          </a:bodyPr>
          <a:lstStyle/>
          <a:p>
            <a:pPr algn="l"/>
            <a:r>
              <a:rPr sz="1800" b="1" i="0">
                <a:solidFill>
                  <a:srgbClr val="00E5FF"/>
                </a:solidFill>
                <a:latin typeface="Calibri"/>
              </a:rPr>
              <a:t>Mimari Bir Karar</a:t>
            </a:r>
          </a:p>
        </p:txBody>
      </p:sp>
      <p:sp>
        <p:nvSpPr>
          <p:cNvPr id="14" name="TextBox 13"/>
          <p:cNvSpPr txBox="1"/>
          <p:nvPr/>
        </p:nvSpPr>
        <p:spPr>
          <a:xfrm>
            <a:off x="6446520" y="1645920"/>
            <a:ext cx="5486400" cy="822960"/>
          </a:xfrm>
          <a:prstGeom prst="rect">
            <a:avLst/>
          </a:prstGeom>
          <a:noFill/>
        </p:spPr>
        <p:txBody>
          <a:bodyPr wrap="square" lIns="36000" rIns="36000" tIns="18000" bIns="18000" anchor="t">
            <a:spAutoFit/>
          </a:bodyPr>
          <a:lstStyle/>
          <a:p>
            <a:pPr algn="l"/>
            <a:r>
              <a:rPr sz="1200" b="0" i="0">
                <a:solidFill>
                  <a:srgbClr val="E8ECF8"/>
                </a:solidFill>
                <a:latin typeface="Calibri"/>
              </a:rPr>
              <a:t>IDOR zafiyetleri kod kalitesinden değil, mimari kararlardan doğar. Authentication ile Authorization katmanlarını bilinçli ayırmayan bir tasarım, tek satırla yamalanamaz. Güvenli Yazılım Geliştirme Yaşam Döngüsü (SSDLC) ile güvenlik kodlamadan önce, gereksinim aşamasında başlar.</a:t>
            </a:r>
          </a:p>
        </p:txBody>
      </p:sp>
      <p:sp>
        <p:nvSpPr>
          <p:cNvPr id="15" name="TextBox 14"/>
          <p:cNvSpPr txBox="1"/>
          <p:nvPr/>
        </p:nvSpPr>
        <p:spPr>
          <a:xfrm>
            <a:off x="6446520" y="2606040"/>
            <a:ext cx="5486400" cy="365760"/>
          </a:xfrm>
          <a:prstGeom prst="rect">
            <a:avLst/>
          </a:prstGeom>
          <a:noFill/>
        </p:spPr>
        <p:txBody>
          <a:bodyPr wrap="square" lIns="36000" rIns="36000" tIns="18000" bIns="18000" anchor="t">
            <a:spAutoFit/>
          </a:bodyPr>
          <a:lstStyle/>
          <a:p>
            <a:pPr algn="l"/>
            <a:r>
              <a:rPr sz="1400" b="1" i="0">
                <a:solidFill>
                  <a:srgbClr val="FFC857"/>
                </a:solidFill>
                <a:latin typeface="Calibri"/>
              </a:rPr>
              <a:t>Anahtar Noktalar</a:t>
            </a:r>
          </a:p>
        </p:txBody>
      </p:sp>
      <p:sp>
        <p:nvSpPr>
          <p:cNvPr id="16" name="TextBox 15"/>
          <p:cNvSpPr txBox="1"/>
          <p:nvPr/>
        </p:nvSpPr>
        <p:spPr>
          <a:xfrm>
            <a:off x="6446520" y="2971800"/>
            <a:ext cx="5669280" cy="3383280"/>
          </a:xfrm>
          <a:prstGeom prst="rect">
            <a:avLst/>
          </a:prstGeom>
          <a:noFill/>
        </p:spPr>
        <p:txBody>
          <a:bodyPr wrap="square" lIns="36000" rIns="36000" tIns="18000" bIns="18000">
            <a:spAutoFit/>
          </a:bodyPr>
          <a:lstStyle/>
          <a:p>
            <a:pPr>
              <a:lnSpc>
                <a:spcPct val="115000"/>
              </a:lnSpc>
            </a:pPr>
            <a:r>
              <a:rPr sz="1200" b="1">
                <a:solidFill>
                  <a:srgbClr val="00E5FF"/>
                </a:solidFill>
                <a:latin typeface="Calibri"/>
              </a:rPr>
              <a:t>▸  </a:t>
            </a:r>
            <a:r>
              <a:rPr sz="1200" b="1">
                <a:solidFill>
                  <a:srgbClr val="FFFFFF"/>
                </a:solidFill>
                <a:latin typeface="Calibri"/>
              </a:rPr>
              <a:t>Tasarım  </a:t>
            </a:r>
            <a:r>
              <a:rPr sz="1200">
                <a:solidFill>
                  <a:srgbClr val="E8ECF8"/>
                </a:solidFill>
                <a:latin typeface="Calibri"/>
              </a:rPr>
              <a:t>Politika: 'her erişimde sahiplik doğrulanır'.</a:t>
            </a:r>
          </a:p>
          <a:p>
            <a:pPr>
              <a:lnSpc>
                <a:spcPct val="115000"/>
              </a:lnSpc>
            </a:pPr>
            <a:r>
              <a:rPr sz="1200" b="1">
                <a:solidFill>
                  <a:srgbClr val="00E5FF"/>
                </a:solidFill>
                <a:latin typeface="Calibri"/>
              </a:rPr>
              <a:t>▸  </a:t>
            </a:r>
            <a:r>
              <a:rPr sz="1200" b="1">
                <a:solidFill>
                  <a:srgbClr val="FFFFFF"/>
                </a:solidFill>
                <a:latin typeface="Calibri"/>
              </a:rPr>
              <a:t>Geliştirme  </a:t>
            </a:r>
            <a:r>
              <a:rPr sz="1200">
                <a:solidFill>
                  <a:srgbClr val="E8ECF8"/>
                </a:solidFill>
                <a:latin typeface="Calibri"/>
              </a:rPr>
              <a:t>Merkezî check_object_ownership + owner_required.</a:t>
            </a:r>
          </a:p>
          <a:p>
            <a:pPr>
              <a:lnSpc>
                <a:spcPct val="115000"/>
              </a:lnSpc>
            </a:pPr>
            <a:r>
              <a:rPr sz="1200" b="1">
                <a:solidFill>
                  <a:srgbClr val="00E5FF"/>
                </a:solidFill>
                <a:latin typeface="Calibri"/>
              </a:rPr>
              <a:t>▸  </a:t>
            </a:r>
            <a:r>
              <a:rPr sz="1200" b="1">
                <a:solidFill>
                  <a:srgbClr val="FFFFFF"/>
                </a:solidFill>
                <a:latin typeface="Calibri"/>
              </a:rPr>
              <a:t>Test  </a:t>
            </a:r>
            <a:r>
              <a:rPr sz="1200">
                <a:solidFill>
                  <a:srgbClr val="E8ECF8"/>
                </a:solidFill>
                <a:latin typeface="Calibri"/>
              </a:rPr>
              <a:t>31 birim test ile her iki mod CI'a bağlanmıştır.</a:t>
            </a:r>
          </a:p>
          <a:p>
            <a:pPr>
              <a:lnSpc>
                <a:spcPct val="115000"/>
              </a:lnSpc>
            </a:pPr>
            <a:r>
              <a:rPr sz="1200" b="1">
                <a:solidFill>
                  <a:srgbClr val="00E5FF"/>
                </a:solidFill>
                <a:latin typeface="Calibri"/>
              </a:rPr>
              <a:t>▸  </a:t>
            </a:r>
            <a:r>
              <a:rPr sz="1200" b="1">
                <a:solidFill>
                  <a:srgbClr val="FFFFFF"/>
                </a:solidFill>
                <a:latin typeface="Calibri"/>
              </a:rPr>
              <a:t>Operasyon  </a:t>
            </a:r>
            <a:r>
              <a:rPr sz="1200">
                <a:solidFill>
                  <a:srgbClr val="E8ECF8"/>
                </a:solidFill>
                <a:latin typeface="Calibri"/>
              </a:rPr>
              <a:t>Güvenlik logları SIEM entegrasyonuna hazır biçimdedir.</a:t>
            </a:r>
          </a:p>
          <a:p>
            <a:pPr>
              <a:lnSpc>
                <a:spcPct val="115000"/>
              </a:lnSpc>
            </a:pPr>
            <a:r>
              <a:rPr sz="1200" b="1">
                <a:solidFill>
                  <a:srgbClr val="00E5FF"/>
                </a:solidFill>
                <a:latin typeface="Calibri"/>
              </a:rPr>
              <a:t>▸  </a:t>
            </a:r>
            <a:r>
              <a:rPr sz="1200" b="1">
                <a:solidFill>
                  <a:srgbClr val="FFFFFF"/>
                </a:solidFill>
                <a:latin typeface="Calibri"/>
              </a:rPr>
              <a:t>Yayın  </a:t>
            </a:r>
            <a:r>
              <a:rPr sz="1200">
                <a:solidFill>
                  <a:srgbClr val="E8ECF8"/>
                </a:solidFill>
                <a:latin typeface="Calibri"/>
              </a:rPr>
              <a:t>Kaynak kod: github.com/aydemirbrkay/IDOR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292608"/>
            <a:ext cx="118872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92608"/>
            <a:ext cx="1188720" cy="411480"/>
          </a:xfrm>
          <a:prstGeom prst="rect">
            <a:avLst/>
          </a:prstGeom>
          <a:noFill/>
        </p:spPr>
        <p:txBody>
          <a:bodyPr wrap="square" lIns="36000" rIns="36000" tIns="18000" bIns="18000" anchor="ctr">
            <a:spAutoFit/>
          </a:bodyPr>
          <a:lstStyle/>
          <a:p>
            <a:pPr algn="ctr"/>
            <a:r>
              <a:rPr sz="1200" b="1" i="0">
                <a:solidFill>
                  <a:srgbClr val="0B1020"/>
                </a:solidFill>
                <a:latin typeface="Calibri"/>
              </a:rPr>
              <a:t>KAYNAKÇA</a:t>
            </a:r>
          </a:p>
        </p:txBody>
      </p:sp>
      <p:sp>
        <p:nvSpPr>
          <p:cNvPr id="6" name="TextBox 5"/>
          <p:cNvSpPr txBox="1"/>
          <p:nvPr/>
        </p:nvSpPr>
        <p:spPr>
          <a:xfrm>
            <a:off x="1783080" y="246888"/>
            <a:ext cx="10058400" cy="502920"/>
          </a:xfrm>
          <a:prstGeom prst="rect">
            <a:avLst/>
          </a:prstGeom>
          <a:noFill/>
        </p:spPr>
        <p:txBody>
          <a:bodyPr wrap="square" lIns="36000" rIns="36000" tIns="18000" bIns="18000" anchor="ctr">
            <a:spAutoFit/>
          </a:bodyPr>
          <a:lstStyle/>
          <a:p>
            <a:pPr algn="l"/>
            <a:r>
              <a:rPr sz="2400" b="1" i="0">
                <a:solidFill>
                  <a:srgbClr val="FFFFFF"/>
                </a:solidFill>
                <a:latin typeface="Calibri"/>
              </a:rPr>
              <a:t>Kaynakça (References)</a:t>
            </a:r>
          </a:p>
        </p:txBody>
      </p:sp>
      <p:sp>
        <p:nvSpPr>
          <p:cNvPr id="7" name="TextBox 6"/>
          <p:cNvSpPr txBox="1"/>
          <p:nvPr/>
        </p:nvSpPr>
        <p:spPr>
          <a:xfrm>
            <a:off x="1783080" y="713232"/>
            <a:ext cx="10058400" cy="274320"/>
          </a:xfrm>
          <a:prstGeom prst="rect">
            <a:avLst/>
          </a:prstGeom>
          <a:noFill/>
        </p:spPr>
        <p:txBody>
          <a:bodyPr wrap="square" lIns="36000" rIns="36000" tIns="18000" bIns="18000" anchor="t">
            <a:spAutoFit/>
          </a:bodyPr>
          <a:lstStyle/>
          <a:p>
            <a:pPr algn="l"/>
            <a:r>
              <a:rPr sz="1200" b="0" i="1">
                <a:solidFill>
                  <a:srgbClr val="8896B5"/>
                </a:solidFill>
                <a:latin typeface="Calibri"/>
              </a:rPr>
              <a:t>Standartlar · OWASP · NIST · Akademik kaynaklar</a:t>
            </a:r>
          </a:p>
        </p:txBody>
      </p:sp>
      <p:sp>
        <p:nvSpPr>
          <p:cNvPr id="8" name="Rounded Rectangle 7"/>
          <p:cNvSpPr/>
          <p:nvPr/>
        </p:nvSpPr>
        <p:spPr>
          <a:xfrm>
            <a:off x="411480" y="1188720"/>
            <a:ext cx="5669280" cy="5029200"/>
          </a:xfrm>
          <a:prstGeom prst="roundRect">
            <a:avLst>
              <a:gd name="adj" fmla="val 8000"/>
            </a:avLst>
          </a:prstGeom>
          <a:solidFill>
            <a:srgbClr val="121933"/>
          </a:solidFill>
          <a:ln>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80160"/>
            <a:ext cx="5486400" cy="457200"/>
          </a:xfrm>
          <a:prstGeom prst="rect">
            <a:avLst/>
          </a:prstGeom>
          <a:noFill/>
        </p:spPr>
        <p:txBody>
          <a:bodyPr wrap="square" lIns="36000" rIns="36000" tIns="18000" bIns="18000" anchor="t">
            <a:spAutoFit/>
          </a:bodyPr>
          <a:lstStyle/>
          <a:p>
            <a:pPr algn="l"/>
            <a:r>
              <a:rPr sz="1600" b="1" i="0">
                <a:solidFill>
                  <a:srgbClr val="00E5FF"/>
                </a:solidFill>
                <a:latin typeface="Calibri"/>
              </a:rPr>
              <a:t>Standartlar &amp; Topluluk</a:t>
            </a:r>
          </a:p>
        </p:txBody>
      </p:sp>
      <p:sp>
        <p:nvSpPr>
          <p:cNvPr id="10" name="TextBox 9"/>
          <p:cNvSpPr txBox="1"/>
          <p:nvPr/>
        </p:nvSpPr>
        <p:spPr>
          <a:xfrm>
            <a:off x="594360" y="1828800"/>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[1] OWASP, "Top 10:2021 — A01 Broken Access Control", 2021.</a:t>
            </a:r>
          </a:p>
        </p:txBody>
      </p:sp>
      <p:sp>
        <p:nvSpPr>
          <p:cNvPr id="11" name="TextBox 10"/>
          <p:cNvSpPr txBox="1"/>
          <p:nvPr/>
        </p:nvSpPr>
        <p:spPr>
          <a:xfrm>
            <a:off x="594360" y="2359152"/>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[2] OWASP, "API Security Top 10:2023 — API1 BOLA", 2023.</a:t>
            </a:r>
          </a:p>
        </p:txBody>
      </p:sp>
      <p:sp>
        <p:nvSpPr>
          <p:cNvPr id="12" name="TextBox 11"/>
          <p:cNvSpPr txBox="1"/>
          <p:nvPr/>
        </p:nvSpPr>
        <p:spPr>
          <a:xfrm>
            <a:off x="594360" y="2889504"/>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[3] OWASP, "IDOR Prevention Cheat Sheet", 2024.</a:t>
            </a:r>
          </a:p>
        </p:txBody>
      </p:sp>
      <p:sp>
        <p:nvSpPr>
          <p:cNvPr id="13" name="TextBox 12"/>
          <p:cNvSpPr txBox="1"/>
          <p:nvPr/>
        </p:nvSpPr>
        <p:spPr>
          <a:xfrm>
            <a:off x="594360" y="3419856"/>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[4] PortSwigger, "What is IDOR? Tutorial &amp; Examples", 2024.</a:t>
            </a:r>
          </a:p>
        </p:txBody>
      </p:sp>
      <p:sp>
        <p:nvSpPr>
          <p:cNvPr id="14" name="TextBox 13"/>
          <p:cNvSpPr txBox="1"/>
          <p:nvPr/>
        </p:nvSpPr>
        <p:spPr>
          <a:xfrm>
            <a:off x="594360" y="3950208"/>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[5] PortSwigger, "Burp Suite Repeater Documentation", 2024.</a:t>
            </a:r>
          </a:p>
        </p:txBody>
      </p:sp>
      <p:sp>
        <p:nvSpPr>
          <p:cNvPr id="15" name="TextBox 14"/>
          <p:cNvSpPr txBox="1"/>
          <p:nvPr/>
        </p:nvSpPr>
        <p:spPr>
          <a:xfrm>
            <a:off x="594360" y="4480560"/>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[6] NIST, "SP 800-162 — ABAC Definition", 2014.</a:t>
            </a:r>
          </a:p>
        </p:txBody>
      </p:sp>
      <p:sp>
        <p:nvSpPr>
          <p:cNvPr id="16" name="TextBox 15"/>
          <p:cNvSpPr txBox="1"/>
          <p:nvPr/>
        </p:nvSpPr>
        <p:spPr>
          <a:xfrm>
            <a:off x="594360" y="5010912"/>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[7] NIST, "SP 800-218 — SSDF v1.1", 2022.</a:t>
            </a:r>
          </a:p>
        </p:txBody>
      </p:sp>
      <p:sp>
        <p:nvSpPr>
          <p:cNvPr id="17" name="TextBox 16"/>
          <p:cNvSpPr txBox="1"/>
          <p:nvPr/>
        </p:nvSpPr>
        <p:spPr>
          <a:xfrm>
            <a:off x="594360" y="5541264"/>
            <a:ext cx="5394960" cy="502920"/>
          </a:xfrm>
          <a:prstGeom prst="rect">
            <a:avLst/>
          </a:prstGeom>
          <a:noFill/>
        </p:spPr>
        <p:txBody>
          <a:bodyPr wrap="square" lIns="36000" rIns="36000" tIns="18000" bIns="18000" anchor="t">
            <a:spAutoFit/>
          </a:bodyPr>
          <a:lstStyle/>
          <a:p>
            <a:pPr algn="l"/>
            <a:r>
              <a:rPr sz="1100" b="0" i="0">
                <a:solidFill>
                  <a:srgbClr val="E8ECF8"/>
                </a:solidFill>
                <a:latin typeface="Calibri"/>
              </a:rPr>
              <a:t>[8] FIRST.Org, "CVSS v3.1 Specification Document", 2019.</a:t>
            </a:r>
          </a:p>
        </p:txBody>
      </p:sp>
      <p:sp>
        <p:nvSpPr>
          <p:cNvPr id="18" name="Rounded Rectangle 17"/>
          <p:cNvSpPr/>
          <p:nvPr/>
        </p:nvSpPr>
        <p:spPr>
          <a:xfrm>
            <a:off x="6263640" y="1188720"/>
            <a:ext cx="5532120" cy="5029200"/>
          </a:xfrm>
          <a:prstGeom prst="roundRect">
            <a:avLst>
              <a:gd name="adj" fmla="val 8000"/>
            </a:avLst>
          </a:prstGeom>
          <a:solidFill>
            <a:srgbClr val="121933"/>
          </a:solidFill>
          <a:ln>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280160"/>
            <a:ext cx="5486400" cy="457200"/>
          </a:xfrm>
          <a:prstGeom prst="rect">
            <a:avLst/>
          </a:prstGeom>
          <a:noFill/>
        </p:spPr>
        <p:txBody>
          <a:bodyPr wrap="square" lIns="36000" rIns="36000" tIns="18000" bIns="18000" anchor="t">
            <a:spAutoFit/>
          </a:bodyPr>
          <a:lstStyle/>
          <a:p>
            <a:pPr algn="l"/>
            <a:r>
              <a:rPr sz="1600" b="1" i="0">
                <a:solidFill>
                  <a:srgbClr val="FFC857"/>
                </a:solidFill>
                <a:latin typeface="Calibri"/>
              </a:rPr>
              <a:t>Yasal Çerçeve &amp; Kütüphane Belgeleri</a:t>
            </a:r>
          </a:p>
        </p:txBody>
      </p:sp>
      <p:sp>
        <p:nvSpPr>
          <p:cNvPr id="20" name="TextBox 19"/>
          <p:cNvSpPr txBox="1"/>
          <p:nvPr/>
        </p:nvSpPr>
        <p:spPr>
          <a:xfrm>
            <a:off x="6446520" y="1828800"/>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[9] MITRE, "CWE-639: Authorization Bypass Through User-Controlled Key".</a:t>
            </a:r>
          </a:p>
        </p:txBody>
      </p:sp>
      <p:sp>
        <p:nvSpPr>
          <p:cNvPr id="21" name="TextBox 20"/>
          <p:cNvSpPr txBox="1"/>
          <p:nvPr/>
        </p:nvSpPr>
        <p:spPr>
          <a:xfrm>
            <a:off x="6446520" y="2395728"/>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[10] MITRE, "CWE-284: Improper Access Control".</a:t>
            </a:r>
          </a:p>
        </p:txBody>
      </p:sp>
      <p:sp>
        <p:nvSpPr>
          <p:cNvPr id="22" name="TextBox 21"/>
          <p:cNvSpPr txBox="1"/>
          <p:nvPr/>
        </p:nvSpPr>
        <p:spPr>
          <a:xfrm>
            <a:off x="6446520" y="2962656"/>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[11] KVKK, "6698 Sayılı Kişisel Verilerin Korunması Kanunu", 2016.</a:t>
            </a:r>
          </a:p>
        </p:txBody>
      </p:sp>
      <p:sp>
        <p:nvSpPr>
          <p:cNvPr id="23" name="TextBox 22"/>
          <p:cNvSpPr txBox="1"/>
          <p:nvPr/>
        </p:nvSpPr>
        <p:spPr>
          <a:xfrm>
            <a:off x="6446520" y="3529584"/>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[12] EU, "GDPR — Reg. (EU) 2016/679, Article 32", 2016.</a:t>
            </a:r>
          </a:p>
        </p:txBody>
      </p:sp>
      <p:sp>
        <p:nvSpPr>
          <p:cNvPr id="24" name="TextBox 23"/>
          <p:cNvSpPr txBox="1"/>
          <p:nvPr/>
        </p:nvSpPr>
        <p:spPr>
          <a:xfrm>
            <a:off x="6446520" y="4096512"/>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[13] Pallets, "Flask v3.0 Official Documentation", 2024.</a:t>
            </a:r>
          </a:p>
        </p:txBody>
      </p:sp>
      <p:sp>
        <p:nvSpPr>
          <p:cNvPr id="25" name="TextBox 24"/>
          <p:cNvSpPr txBox="1"/>
          <p:nvPr/>
        </p:nvSpPr>
        <p:spPr>
          <a:xfrm>
            <a:off x="6446520" y="4663440"/>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[14] Pallets, "Werkzeug Security Helpers", 2024.</a:t>
            </a:r>
          </a:p>
        </p:txBody>
      </p:sp>
      <p:sp>
        <p:nvSpPr>
          <p:cNvPr id="26" name="TextBox 25"/>
          <p:cNvSpPr txBox="1"/>
          <p:nvPr/>
        </p:nvSpPr>
        <p:spPr>
          <a:xfrm>
            <a:off x="6446520" y="5230368"/>
            <a:ext cx="5257800" cy="594360"/>
          </a:xfrm>
          <a:prstGeom prst="rect">
            <a:avLst/>
          </a:prstGeom>
          <a:noFill/>
        </p:spPr>
        <p:txBody>
          <a:bodyPr wrap="square" lIns="36000" rIns="36000" tIns="18000" bIns="18000" anchor="t">
            <a:spAutoFit/>
          </a:bodyPr>
          <a:lstStyle/>
          <a:p>
            <a:pPr algn="l"/>
            <a:r>
              <a:rPr sz="1100" b="0" i="0">
                <a:solidFill>
                  <a:srgbClr val="E8ECF8"/>
                </a:solidFill>
                <a:latin typeface="Calibri"/>
              </a:rPr>
              <a:t>[15] Aydemir B., Sarıduman F., "IDOR Güvenlik Simülasyonu — Kaynak Kod Deposu", GitHub, 2026.</a:t>
            </a:r>
          </a:p>
        </p:txBody>
      </p:sp>
      <p:sp>
        <p:nvSpPr>
          <p:cNvPr id="27" name="TextBox 26"/>
          <p:cNvSpPr txBox="1"/>
          <p:nvPr/>
        </p:nvSpPr>
        <p:spPr>
          <a:xfrm>
            <a:off x="411480" y="6537960"/>
            <a:ext cx="7315200" cy="274320"/>
          </a:xfrm>
          <a:prstGeom prst="rect">
            <a:avLst/>
          </a:prstGeom>
          <a:noFill/>
        </p:spPr>
        <p:txBody>
          <a:bodyPr wrap="square" lIns="36000" rIns="36000" tIns="18000" bIns="18000" anchor="t">
            <a:spAutoFit/>
          </a:bodyPr>
          <a:lstStyle/>
          <a:p>
            <a:pPr algn="l"/>
            <a:r>
              <a:rPr sz="1000" b="0" i="0">
                <a:solidFill>
                  <a:srgbClr val="8896B5"/>
                </a:solidFill>
                <a:latin typeface="Calibri"/>
              </a:rPr>
              <a:t>IDOR Uygulama ve Analiz Raporu  —  Erciyes Üniversitesi  /  Bilgisayar Mühendisliği</a:t>
            </a:r>
          </a:p>
        </p:txBody>
      </p:sp>
      <p:sp>
        <p:nvSpPr>
          <p:cNvPr id="28" name="TextBox 27"/>
          <p:cNvSpPr txBox="1"/>
          <p:nvPr/>
        </p:nvSpPr>
        <p:spPr>
          <a:xfrm>
            <a:off x="9509760" y="6537960"/>
            <a:ext cx="2377440" cy="274320"/>
          </a:xfrm>
          <a:prstGeom prst="rect">
            <a:avLst/>
          </a:prstGeom>
          <a:noFill/>
        </p:spPr>
        <p:txBody>
          <a:bodyPr wrap="square" lIns="36000" rIns="36000" tIns="18000" bIns="18000" anchor="t">
            <a:spAutoFit/>
          </a:bodyPr>
          <a:lstStyle/>
          <a:p>
            <a:pPr algn="r"/>
            <a:r>
              <a:rPr sz="1000" b="0" i="0">
                <a:solidFill>
                  <a:srgbClr val="8896B5"/>
                </a:solidFill>
                <a:latin typeface="Calibri"/>
              </a:rPr>
              <a:t>B. AYDEMİR  ·  F. SARIDUMAN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